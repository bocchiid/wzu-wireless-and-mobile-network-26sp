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76" r:id="rId5"/>
    <p:sldId id="265" r:id="rId6"/>
    <p:sldId id="282" r:id="rId7"/>
    <p:sldId id="267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391" autoAdjust="0"/>
  </p:normalViewPr>
  <p:slideViewPr>
    <p:cSldViewPr snapToGrid="0">
      <p:cViewPr varScale="1">
        <p:scale>
          <a:sx n="84" d="100"/>
          <a:sy n="84" d="100"/>
        </p:scale>
        <p:origin x="156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2676525" y="4982210"/>
            <a:ext cx="6772910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800" dirty="0">
                <a:solidFill>
                  <a:schemeClr val="tx1">
                    <a:alpha val="100000"/>
                  </a:schemeClr>
                </a:solidFill>
              </a:rPr>
              <a:t>CAPWAP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的有限状态机</a:t>
            </a:r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615950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二、CAPWAP有限状态机</a:t>
            </a:r>
          </a:p>
        </p:txBody>
      </p:sp>
      <p:sp>
        <p:nvSpPr>
          <p:cNvPr id="70" name="矩形 78"/>
          <p:cNvSpPr/>
          <p:nvPr/>
        </p:nvSpPr>
        <p:spPr>
          <a:xfrm>
            <a:off x="5706784" y="4323706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三、异常与重置机制</a:t>
            </a: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6429375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一、CAPWAP协议及其状态机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58407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CAPWAP协议</a:t>
            </a:r>
            <a:endParaRPr lang="en-US" altLang="zh-CN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及其状态机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一、CAPWAP协议及其状态机</a:t>
            </a:r>
            <a:endParaRPr lang="zh-CN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正文"/>
          <p:cNvSpPr txBox="1"/>
          <p:nvPr/>
        </p:nvSpPr>
        <p:spPr>
          <a:xfrm>
            <a:off x="584507" y="1445577"/>
            <a:ext cx="11000000" cy="4839915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CAPWAP协议</a:t>
            </a:r>
          </a:p>
          <a:p>
            <a:pPr indent="367200" algn="l" fontAlgn="auto">
              <a:lnSpc>
                <a:spcPts val="3000"/>
              </a:lnSpc>
            </a:pP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CAPWAP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 And Provisioning of Wireless Access Points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是一种用于AC/WLC与WTP/AP之间进行控制和管理的标准协议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让AP能够在统一的协议框架下完成发现控制器、建立安全控制通道、接收配置、必要时进行镜像升级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并最终进入稳定运行状态RFC5415明确指出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CAPWAP使AC能够集中管理一组WTP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并且控制报文、可选的数据报文都可以通过DTLS进行保护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因此它本质上既是管理协议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也是安全接入与集中管控机制的一部分</a:t>
            </a:r>
            <a:endParaRPr lang="zh-CN" sz="22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2400"/>
              </a:lnSpc>
            </a:pPr>
            <a:r>
              <a:rPr lang="zh-CN" sz="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CAPWAP状态机</a:t>
            </a:r>
          </a:p>
          <a:p>
            <a:pPr indent="367200" algn="l" fontAlgn="auto">
              <a:lnSpc>
                <a:spcPts val="3000"/>
              </a:lnSpc>
            </a:pP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CAPWAP状态机就是把AP从启动到正常工作的全过程拆分为一组有先后顺序、可回退、可恢复的状态及转换关系RFC5415对此明确说明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CAPWAP使用一个集成状态机描述AC与WTP的交互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而Cisco的工程文档也把这一过程落实为AP的discovery、DTLS建立、join、image check、configuration和run等连续阶段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600" y="3192780"/>
            <a:ext cx="6087745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CAPWAP有限状态机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二、CAPWAP有限状态机</a:t>
            </a:r>
            <a:endParaRPr lang="zh-CN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正文"/>
          <p:cNvSpPr txBox="1"/>
          <p:nvPr/>
        </p:nvSpPr>
        <p:spPr>
          <a:xfrm>
            <a:off x="584507" y="1210266"/>
            <a:ext cx="6174101" cy="5581015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endParaRPr sz="2000" dirty="0"/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Discovery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表示AP发现控制器并决定连接哪个AC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解决的是设备去哪里注册的问题</a:t>
            </a: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DTLS Setup / DTLS Connect</a:t>
            </a:r>
            <a:r>
              <a:rPr lang="zh-CN" sz="2400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表示AP与AC建立受DTLS保护的控制隧道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解决的是后续控制消息如何安全传输的问题</a:t>
            </a: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Join</a:t>
            </a:r>
            <a:r>
              <a:rPr 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表示AP正式向控制器发起加入请求Join Request中会携带设备能力、名称、地址等关键信息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AC则依据这些信息决定是否接纳该AP</a:t>
            </a: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Configure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表示双方交换并确认配置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AC通过Configuration Status Response下发或覆盖参数</a:t>
            </a: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用于确认控制通道与数据通道之间的联动是否建立成功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成功后才进Run</a:t>
            </a:r>
          </a:p>
          <a:p>
            <a:pPr algn="l">
              <a:lnSpc>
                <a:spcPts val="2400"/>
              </a:lnSpc>
            </a:pPr>
            <a:r>
              <a:rPr 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则是AP的正常运行态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在这个状态下会通过Echo、keepalive等机制维持CAPWAP隧道的持续有效</a:t>
            </a:r>
          </a:p>
        </p:txBody>
      </p:sp>
      <p:pic>
        <p:nvPicPr>
          <p:cNvPr id="100" name="图片 7" descr="C:/Users/19016/Desktop/CAPWAP有限状态机.pngCAPWAP有限状态机"/>
          <p:cNvPicPr/>
          <p:nvPr/>
        </p:nvPicPr>
        <p:blipFill>
          <a:blip r:embed="rId3"/>
          <a:srcRect t="-183" b="4314"/>
          <a:stretch>
            <a:fillRect/>
          </a:stretch>
        </p:blipFill>
        <p:spPr>
          <a:xfrm>
            <a:off x="6617335" y="1000125"/>
            <a:ext cx="5574665" cy="53600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异常与重置机制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三、异常与重置机制</a:t>
            </a:r>
          </a:p>
        </p:txBody>
      </p:sp>
      <p:sp>
        <p:nvSpPr>
          <p:cNvPr id="99" name="正文"/>
          <p:cNvSpPr txBox="1"/>
          <p:nvPr/>
        </p:nvSpPr>
        <p:spPr>
          <a:xfrm>
            <a:off x="584507" y="1374685"/>
            <a:ext cx="11000000" cy="5232202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indent="0" algn="l" fontAlgn="auto"/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Reset</a:t>
            </a:r>
          </a:p>
          <a:p>
            <a:pPr indent="367200" algn="l" fontAlgn="auto"/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Reset用于处理配置错误、配置生效重启以及镜像下载完成后的重新启动RFC5415给出的状态转换表明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设备可由Configure或Image Data进入Reset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并在后续重新发起会话建立</a:t>
            </a:r>
          </a:p>
          <a:p>
            <a:pPr indent="0" algn="l" fontAlgn="auto"/>
            <a:r>
              <a:rPr 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DTLS Teardown</a:t>
            </a:r>
          </a:p>
          <a:p>
            <a:pPr indent="367200" algn="l" fontAlgn="auto"/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DTLS Teardown表示当前安全会话被有序拆除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常见触发原因包括DTLS握手失败、运行阶段隧道异常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以及Reset后对旧会话的清理RFC 5415明确给出了Run、Reset等状态转入DTLS Teardown的路径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这说明该状态承担的是连接释放、上下文清理和后续重连准备的功能</a:t>
            </a:r>
            <a:endParaRPr lang="zh-CN" sz="28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/>
            <a:r>
              <a:rPr lang="zh-CN" sz="22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Image Data</a:t>
            </a:r>
          </a:p>
          <a:p>
            <a:pPr indent="367200" algn="l" fontAlgn="auto"/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 Data对应AP镜像下载阶段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用于处理控制器与AP之间的软件版本一致性问Cisco的AP Join过程说明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 在Join之后会执行镜像检查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版本不匹配时需要下载新镜像并重新加入；RFC5415也指出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镜像下载完成、失败或超时后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状态机会继续转入Reset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必要时再进入DTLS Teardown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610</Words>
  <Application>Microsoft Office PowerPoint</Application>
  <PresentationFormat>宽屏</PresentationFormat>
  <Paragraphs>39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20</cp:revision>
  <dcterms:created xsi:type="dcterms:W3CDTF">2026-04-02T13:08:00Z</dcterms:created>
  <dcterms:modified xsi:type="dcterms:W3CDTF">2026-04-17T08:51:49Z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12DCD5DA62B94AF8AE5EC323AA47B838_13</vt:lpwstr>
  </property>
  <property fmtid="{D5CDD505-2E9C-101B-9397-08002B2CF9AE}" pid="3" name="KSOProductBuildVer">
    <vt:lpwstr>2052-12.1.0.25865</vt:lpwstr>
  </property>
</Properties>
</file>