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76" r:id="rId5"/>
    <p:sldId id="283" r:id="rId6"/>
    <p:sldId id="265" r:id="rId7"/>
    <p:sldId id="282" r:id="rId8"/>
    <p:sldId id="267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83"/>
            <p14:sldId id="265"/>
            <p14:sldId id="282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265FC"/>
    <a:srgbClr val="6B8AB8"/>
    <a:srgbClr val="23346B"/>
    <a:srgbClr val="606060"/>
    <a:srgbClr val="7F7F7F"/>
    <a:srgbClr val="EAEAEA"/>
    <a:srgbClr val="8BADDA"/>
    <a:srgbClr val="FDFDF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6391" autoAdjust="0"/>
  </p:normalViewPr>
  <p:slideViewPr>
    <p:cSldViewPr snapToGrid="0">
      <p:cViewPr varScale="1">
        <p:scale>
          <a:sx n="82" d="100"/>
          <a:sy n="82" d="100"/>
        </p:scale>
        <p:origin x="466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1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3080170" y="4591053"/>
            <a:ext cx="6031767" cy="15684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无线信号</a:t>
            </a:r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  <a:cs typeface="Arial" panose="020B0604020202020204" pitchFamily="34" charset="0"/>
              </a:rPr>
              <a:t>传播模型</a:t>
            </a:r>
            <a:endParaRPr dirty="0"/>
          </a:p>
        </p:txBody>
      </p:sp>
      <p:pic>
        <p:nvPicPr>
          <p:cNvPr id="54" name="图片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503077" y="5594755"/>
            <a:ext cx="7200498" cy="645160"/>
          </a:xfrm>
          <a:prstGeom prst="rect">
            <a:avLst/>
          </a:prstGeom>
          <a:ln w="12700">
            <a:prstDash val="solid"/>
          </a:ln>
        </p:spPr>
        <p:txBody>
          <a:bodyPr wrap="square">
            <a:no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  <a:endParaRPr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6085255" y="4176997"/>
            <a:ext cx="5563425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二、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室内传播模型</a:t>
            </a:r>
            <a:endParaRPr dirty="0"/>
          </a:p>
        </p:txBody>
      </p:sp>
      <p:sp>
        <p:nvSpPr>
          <p:cNvPr id="70" name="矩形 78"/>
          <p:cNvSpPr/>
          <p:nvPr/>
        </p:nvSpPr>
        <p:spPr>
          <a:xfrm>
            <a:off x="6085255" y="4822792"/>
            <a:ext cx="6141329" cy="119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三、</a:t>
            </a:r>
            <a:r>
              <a:rPr lang="zh-CN" altLang="en-US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室外传播模型</a:t>
            </a:r>
            <a:endParaRPr lang="zh-CN" altLang="en-US" sz="3600" b="1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</a:p>
        </p:txBody>
      </p:sp>
      <p:pic>
        <p:nvPicPr>
          <p:cNvPr id="72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6121100" y="2842612"/>
            <a:ext cx="5036185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无线信号传播模型  		的构建</a:t>
            </a:r>
            <a:endParaRPr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828" y="3193014"/>
            <a:ext cx="54548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无线信号传播模型的构建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无线信号传播模型的构建</a:t>
            </a:r>
            <a:endParaRPr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584554" y="2079226"/>
            <a:ext cx="11031285" cy="13836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基础建模</a:t>
            </a:r>
          </a:p>
          <a:p>
            <a:pPr indent="421005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以物理学的电磁波传播定律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如自由空间传播模型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作为衰减基准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确定了信号随距离增加而衰减的最基本规律</a:t>
            </a:r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584506" y="4044432"/>
            <a:ext cx="11031285" cy="13836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环境建模</a:t>
            </a:r>
          </a:p>
          <a:p>
            <a:pPr indent="421005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引入反射、透射、绕射、散射以及穿透损耗参数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模拟真实复杂环境对波形的削弱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无线信号传播模型的构建</a:t>
            </a:r>
            <a:endParaRPr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584554" y="1528409"/>
            <a:ext cx="2066741" cy="52989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数学拟合</a:t>
            </a:r>
          </a:p>
          <a:p>
            <a:pPr indent="421005"/>
            <a:endParaRPr lang="zh-CN" altLang="en-US" b="1">
              <a:solidFill>
                <a:schemeClr val="accent1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085197" y="2058265"/>
          <a:ext cx="105308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5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5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核心策略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经验模型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基于大量路测数据的统计公式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(如对数距离路径损耗模型、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Ericsson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多重断点模型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确定性模型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利用射线追踪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(Ray Tracing)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或者射线发射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(Ray Launching), </a:t>
                      </a: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基于求解麦克斯韦方程的有限差分时域法等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 userDrawn="1"/>
        </p:nvSpPr>
        <p:spPr>
          <a:xfrm>
            <a:off x="584577" y="4485742"/>
            <a:ext cx="11031481" cy="206744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实测校准</a:t>
            </a:r>
          </a:p>
          <a:p>
            <a:pPr indent="421005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通过路测采集实际强度数据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利用最小二乘法等算法修正模型系数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确保预测准确性</a:t>
            </a:r>
          </a:p>
          <a:p>
            <a:pPr indent="421005"/>
            <a:endParaRPr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828" y="3193014"/>
            <a:ext cx="5764789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室内</a:t>
            </a: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传播模型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170" y="2894965"/>
            <a:ext cx="3672840" cy="1067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室内传播模型</a:t>
            </a:r>
            <a:endParaRPr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4935901" y="909234"/>
            <a:ext cx="232029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瑞利衰落模型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584554" y="1500167"/>
            <a:ext cx="1825625" cy="4603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基本假设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584554" y="2961604"/>
            <a:ext cx="1825625" cy="4603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数学表达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584554" y="4355859"/>
            <a:ext cx="1825625" cy="4603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模型特性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584554" y="4816853"/>
            <a:ext cx="10895720" cy="119888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瑞利衰落信号的相位是均匀分布的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Rayleigh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衰落的信号幅度服从瑞利分布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信号的衰减是随时间变化的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并且通常会出现较大的信号波动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信号强度在短时间或短距离内可能会大幅波动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有时几乎消失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648957" y="1842500"/>
            <a:ext cx="11866245" cy="111911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该模型假设信号传播过程中没有明显的直射路径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(LOS)</a:t>
            </a:r>
          </a:p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接收端接收到的信号是多个路径传播信号的叠加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不同传播路径的信号强度和相位都是独立的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并且信号强度服从瑞利分布</a:t>
            </a:r>
          </a:p>
        </p:txBody>
      </p:sp>
      <p:sp>
        <p:nvSpPr>
          <p:cNvPr id="10" name="文本框 9"/>
          <p:cNvSpPr txBox="1"/>
          <p:nvPr userDrawn="1"/>
        </p:nvSpPr>
        <p:spPr>
          <a:xfrm>
            <a:off x="4119880" y="4283075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197860" y="3962400"/>
            <a:ext cx="5331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为瞬时幅度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为分量标准差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室外传播模型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室外传播模型</a:t>
            </a:r>
            <a:endParaRPr lang="zh-CN" altLang="en-US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4502452" y="890248"/>
            <a:ext cx="3373120" cy="52197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COST231‑WI</a:t>
            </a:r>
            <a:r>
              <a:rPr lang="zh-CN" altLang="en-US" sz="2800" b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584554" y="1513309"/>
            <a:ext cx="11579628" cy="157378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基本假设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适用于规则城市建筑群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区分视距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(LoS)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与非视距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(NLOS)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非视距信号主要经屋顶衍射、街道反射等传播到达接收端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路径损耗由自由空间损耗、屋顶衍射及建筑遮挡损耗组成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584554" y="3087093"/>
            <a:ext cx="10717747" cy="180494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数学表达</a:t>
            </a:r>
          </a:p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视距路径损耗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en-US" altLang="en-US"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en-US" altLang="en-US" sz="2400" b="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LoS</a:t>
            </a:r>
            <a:r>
              <a:rPr lang="en-US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​=42.6+20log</a:t>
            </a:r>
            <a:r>
              <a:rPr lang="en-US" altLang="en-US" sz="2400" b="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en-US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​f+26log</a:t>
            </a:r>
            <a:r>
              <a:rPr lang="en-US" altLang="en-US" sz="2400" b="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10​</a:t>
            </a:r>
            <a:r>
              <a:rPr lang="en-US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endParaRPr lang="zh-CN" altLang="en-US" sz="24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非视距路径损耗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en-US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en-US" altLang="en-US" sz="2400" b="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NLOS</a:t>
            </a:r>
            <a:r>
              <a:rPr lang="en-US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​= L</a:t>
            </a:r>
            <a:r>
              <a:rPr lang="en-US" altLang="en-US" sz="2400" b="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FS​</a:t>
            </a:r>
            <a:r>
              <a:rPr lang="en-US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en-US" altLang="en-US"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en-US" altLang="en-US" sz="2400" b="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rts</a:t>
            </a:r>
            <a:r>
              <a:rPr lang="en-US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​+</a:t>
            </a:r>
            <a:r>
              <a:rPr lang="en-US" altLang="en-US"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en-US" altLang="en-US" sz="2400" b="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msd</a:t>
            </a:r>
            <a:r>
              <a:rPr lang="en-US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en-US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lang="en-US" altLang="en-US" sz="240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rts</a:t>
            </a:r>
            <a:r>
              <a:rPr lang="en-US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​+</a:t>
            </a:r>
            <a:r>
              <a:rPr lang="en-US" altLang="en-US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lang="en-US" altLang="en-US" sz="240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msd</a:t>
            </a:r>
            <a:r>
              <a:rPr lang="en-US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&gt;=0)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lang="en-US" altLang="en-US" sz="24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FS</a:t>
            </a:r>
            <a:r>
              <a:rPr lang="en-US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​(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</a:t>
            </a:r>
            <a:r>
              <a:rPr lang="en-US" altLang="en-US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lang="en-US" altLang="en-US" sz="240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rts</a:t>
            </a:r>
            <a:r>
              <a:rPr lang="en-US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​+</a:t>
            </a:r>
            <a:r>
              <a:rPr lang="en-US" altLang="en-US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lang="en-US" altLang="en-US" sz="240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msd</a:t>
            </a:r>
            <a:r>
              <a:rPr lang="en-US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&lt;0)</a:t>
            </a:r>
          </a:p>
          <a:p>
            <a:pPr algn="l"/>
            <a:r>
              <a:rPr lang="en-US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工作频率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MHz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), </a:t>
            </a:r>
            <a:r>
              <a:rPr lang="en-US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传播距离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km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), </a:t>
            </a:r>
            <a:r>
              <a:rPr lang="en-US" altLang="en-US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en-US" altLang="en-US" sz="2000" b="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rts</a:t>
            </a:r>
            <a:r>
              <a:rPr lang="en-US" altLang="en-US" sz="2000" b="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屋顶到街道的衍射损耗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en-US" sz="20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en-US" altLang="en-US" sz="2000" b="0" baseline="-25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msd</a:t>
            </a:r>
            <a:r>
              <a:rPr lang="en-US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​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多屏屏蔽附加损耗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由建筑高度、街道宽度决定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),L</a:t>
            </a:r>
            <a:r>
              <a:rPr lang="en-US" altLang="zh-CN" sz="2000" b="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Fs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自由空间路径损耗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584554" y="4892005"/>
            <a:ext cx="11209389" cy="16049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模型特性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严格区分视距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非视距场景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城市微蜂窝环境预测精度高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显式建模建筑高度、街道宽度等城市环境参数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工程实用性强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非视距场景下路径损耗随距离的衰减指数约为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3.5~4,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比自由空间衰减更快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581</Words>
  <Application>Microsoft Office PowerPoint</Application>
  <PresentationFormat>宽屏</PresentationFormat>
  <Paragraphs>59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思源黑体 CN Normal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id Bocchi</cp:lastModifiedBy>
  <cp:revision>4</cp:revision>
  <dcterms:created xsi:type="dcterms:W3CDTF">2026-03-18T13:18:00Z</dcterms:created>
  <dcterms:modified xsi:type="dcterms:W3CDTF">2026-03-18T15:26:57Z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E762AB21CE9B45A3BF58AC9B91A2543A_13</vt:lpwstr>
  </property>
  <property fmtid="{D5CDD505-2E9C-101B-9397-08002B2CF9AE}" pid="3" name="KSOProductBuildVer">
    <vt:lpwstr>2052-12.1.0.25225</vt:lpwstr>
  </property>
</Properties>
</file>