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notesMasterIdLst>
    <p:notesMasterId r:id="rId12"/>
  </p:notesMasterIdLst>
  <p:sldIdLst>
    <p:sldId id="256" r:id="rId3"/>
    <p:sldId id="257" r:id="rId4"/>
    <p:sldId id="258" r:id="rId5"/>
    <p:sldId id="276" r:id="rId6"/>
    <p:sldId id="265" r:id="rId7"/>
    <p:sldId id="282" r:id="rId8"/>
    <p:sldId id="283" r:id="rId9"/>
    <p:sldId id="267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6964F23-0C85-4586-BAD8-BE09555FF6F0}">
          <p14:sldIdLst>
            <p14:sldId id="256"/>
            <p14:sldId id="257"/>
            <p14:sldId id="258"/>
            <p14:sldId id="276"/>
            <p14:sldId id="265"/>
            <p14:sldId id="282"/>
            <p14:sldId id="283"/>
            <p14:sldId id="267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B89"/>
    <a:srgbClr val="0265FC"/>
    <a:srgbClr val="6B8AB8"/>
    <a:srgbClr val="23346B"/>
    <a:srgbClr val="606060"/>
    <a:srgbClr val="7F7F7F"/>
    <a:srgbClr val="EAEAEA"/>
    <a:srgbClr val="8BADDA"/>
    <a:srgbClr val="FDFDFC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6391" autoAdjust="0"/>
  </p:normalViewPr>
  <p:slideViewPr>
    <p:cSldViewPr snapToGrid="0">
      <p:cViewPr varScale="1">
        <p:scale>
          <a:sx n="84" d="100"/>
          <a:sy n="84" d="100"/>
        </p:scale>
        <p:origin x="156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2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8D523-4D3D-4F11-8579-2B4BF489780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0B82E-EF7D-4A61-B6BF-9954BCE8AF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/>
              <a:t>单击此处编辑母版标题样式</a:t>
            </a:r>
          </a:p>
        </p:txBody>
      </p:sp>
      <p:sp>
        <p:nvSpPr>
          <p:cNvPr id="3" name="文本框 7"/>
          <p:cNvSpPr txBox="1"/>
          <p:nvPr userDrawn="1"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/>
              <a:t>单击此处编辑母版标题样式</a:t>
            </a:r>
          </a:p>
        </p:txBody>
      </p:sp>
      <p:sp>
        <p:nvSpPr>
          <p:cNvPr id="3" name="文本框 7"/>
          <p:cNvSpPr txBox="1"/>
          <p:nvPr userDrawn="1"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/>
          <p:nvPr userDrawn="1"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7"/>
          <p:cNvSpPr/>
          <p:nvPr userDrawn="1"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4" name="任意多边形 14"/>
          <p:cNvSpPr/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/>
          <p:nvPr userDrawn="1"/>
        </p:nvPicPr>
        <p:blipFill>
          <a:blip r:embed="rId20" cstate="print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/>
          <p:nvPr userDrawn="1"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7"/>
          <p:cNvSpPr/>
          <p:nvPr userDrawn="1"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4" name="任意多边形 14"/>
          <p:cNvSpPr/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/>
          <p:nvPr userDrawn="1"/>
        </p:nvPicPr>
        <p:blipFill>
          <a:blip r:embed="rId20" cstate="print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62065"/>
          </a:xfrm>
          <a:prstGeom prst="rect">
            <a:avLst/>
          </a:prstGeom>
        </p:spPr>
      </p:pic>
      <p:grpSp>
        <p:nvGrpSpPr>
          <p:cNvPr id="50" name="组合 2"/>
          <p:cNvGrpSpPr/>
          <p:nvPr/>
        </p:nvGrpSpPr>
        <p:grpSpPr>
          <a:xfrm>
            <a:off x="1905" y="2552700"/>
            <a:ext cx="12202795" cy="4305300"/>
            <a:chOff x="0" y="3312958"/>
            <a:chExt cx="12192000" cy="3644278"/>
          </a:xfrm>
        </p:grpSpPr>
        <p:sp>
          <p:nvSpPr>
            <p:cNvPr id="51" name="任意多边形: 形状 22"/>
            <p:cNvSpPr/>
            <p:nvPr/>
          </p:nvSpPr>
          <p:spPr>
            <a:xfrm flipH="1">
              <a:off x="0" y="3312958"/>
              <a:ext cx="12192000" cy="1725442"/>
            </a:xfrm>
            <a:custGeom>
              <a:avLst/>
              <a:gdLst>
                <a:gd name="connsiteX0" fmla="*/ 12192000 w 12192000"/>
                <a:gd name="connsiteY0" fmla="*/ 1085850 h 2432050"/>
                <a:gd name="connsiteX1" fmla="*/ 12192000 w 12192000"/>
                <a:gd name="connsiteY1" fmla="*/ 921385 h 2432050"/>
                <a:gd name="connsiteX2" fmla="*/ 6939915 w 12192000"/>
                <a:gd name="connsiteY2" fmla="*/ 2085975 h 2432050"/>
                <a:gd name="connsiteX3" fmla="*/ 0 w 12192000"/>
                <a:gd name="connsiteY3" fmla="*/ 0 h 2432050"/>
                <a:gd name="connsiteX4" fmla="*/ 0 w 12192000"/>
                <a:gd name="connsiteY4" fmla="*/ 1098550 h 2432050"/>
                <a:gd name="connsiteX5" fmla="*/ 6022975 w 12192000"/>
                <a:gd name="connsiteY5" fmla="*/ 2435860 h 2432050"/>
                <a:gd name="connsiteX6" fmla="*/ 12192000 w 12192000"/>
                <a:gd name="connsiteY6" fmla="*/ 1085850 h 2432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2432050">
                  <a:moveTo>
                    <a:pt x="12192000" y="1085850"/>
                  </a:moveTo>
                  <a:lnTo>
                    <a:pt x="12192000" y="921385"/>
                  </a:lnTo>
                  <a:cubicBezTo>
                    <a:pt x="10547985" y="1675765"/>
                    <a:pt x="8780780" y="2085975"/>
                    <a:pt x="6939915" y="2085975"/>
                  </a:cubicBezTo>
                  <a:cubicBezTo>
                    <a:pt x="4451350" y="2085975"/>
                    <a:pt x="2096135" y="1336040"/>
                    <a:pt x="0" y="0"/>
                  </a:cubicBezTo>
                  <a:lnTo>
                    <a:pt x="0" y="1098550"/>
                  </a:lnTo>
                  <a:cubicBezTo>
                    <a:pt x="1849120" y="1959610"/>
                    <a:pt x="3884930" y="2435860"/>
                    <a:pt x="6022975" y="2435860"/>
                  </a:cubicBezTo>
                  <a:cubicBezTo>
                    <a:pt x="8217535" y="2436495"/>
                    <a:pt x="10935335" y="1819275"/>
                    <a:pt x="12192000" y="108585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  <p:sp>
          <p:nvSpPr>
            <p:cNvPr id="52" name="任意多边形: 形状 19"/>
            <p:cNvSpPr/>
            <p:nvPr/>
          </p:nvSpPr>
          <p:spPr>
            <a:xfrm flipH="1">
              <a:off x="0" y="4054714"/>
              <a:ext cx="12192000" cy="2902522"/>
            </a:xfrm>
            <a:custGeom>
              <a:avLst/>
              <a:gdLst>
                <a:gd name="connsiteX0" fmla="*/ 12191368 w 12192000"/>
                <a:gd name="connsiteY0" fmla="*/ 0 h 3089202"/>
                <a:gd name="connsiteX1" fmla="*/ 12069968 w 12192000"/>
                <a:gd name="connsiteY1" fmla="*/ 48278 h 3089202"/>
                <a:gd name="connsiteX2" fmla="*/ 6022975 w 12192000"/>
                <a:gd name="connsiteY2" fmla="*/ 957527 h 3089202"/>
                <a:gd name="connsiteX3" fmla="*/ 0 w 12192000"/>
                <a:gd name="connsiteY3" fmla="*/ 8759 h 3089202"/>
                <a:gd name="connsiteX4" fmla="*/ 0 w 12192000"/>
                <a:gd name="connsiteY4" fmla="*/ 3089202 h 3089202"/>
                <a:gd name="connsiteX5" fmla="*/ 12192000 w 12192000"/>
                <a:gd name="connsiteY5" fmla="*/ 3089202 h 3089202"/>
                <a:gd name="connsiteX6" fmla="*/ 12191368 w 12192000"/>
                <a:gd name="connsiteY6" fmla="*/ 0 h 3089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089202">
                  <a:moveTo>
                    <a:pt x="12191368" y="0"/>
                  </a:moveTo>
                  <a:lnTo>
                    <a:pt x="12069968" y="48278"/>
                  </a:lnTo>
                  <a:cubicBezTo>
                    <a:pt x="10765984" y="547025"/>
                    <a:pt x="8148955" y="957964"/>
                    <a:pt x="6022975" y="957527"/>
                  </a:cubicBezTo>
                  <a:cubicBezTo>
                    <a:pt x="3884930" y="957527"/>
                    <a:pt x="1849120" y="619647"/>
                    <a:pt x="0" y="8759"/>
                  </a:cubicBezTo>
                  <a:lnTo>
                    <a:pt x="0" y="3089202"/>
                  </a:lnTo>
                  <a:lnTo>
                    <a:pt x="12192000" y="3089202"/>
                  </a:lnTo>
                  <a:lnTo>
                    <a:pt x="12191368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3" name="文本框 13"/>
          <p:cNvSpPr txBox="1"/>
          <p:nvPr/>
        </p:nvSpPr>
        <p:spPr>
          <a:xfrm>
            <a:off x="3080385" y="4911725"/>
            <a:ext cx="6031865" cy="92646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>
            <a:no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4800" dirty="0">
                <a:solidFill>
                  <a:schemeClr val="tx1">
                    <a:alpha val="100000"/>
                  </a:schemeClr>
                </a:solidFill>
              </a:rPr>
              <a:t>5G</a:t>
            </a:r>
            <a:r>
              <a:rPr lang="zh-CN" altLang="en-US" sz="4800" dirty="0">
                <a:solidFill>
                  <a:schemeClr val="tx1">
                    <a:alpha val="100000"/>
                  </a:schemeClr>
                </a:solidFill>
              </a:rPr>
              <a:t>系统结构科普介绍</a:t>
            </a:r>
          </a:p>
        </p:txBody>
      </p:sp>
      <p:pic>
        <p:nvPicPr>
          <p:cNvPr id="54" name="图片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5645" y="4542155"/>
            <a:ext cx="1524000" cy="1524000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2440305" y="5838190"/>
            <a:ext cx="7310755" cy="64516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Team2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韩贤煜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周靖杭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曾坤</a:t>
            </a:r>
            <a:r>
              <a:rPr lang="en-US" alt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贾杰凡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34"/>
          <p:cNvSpPr/>
          <p:nvPr/>
        </p:nvSpPr>
        <p:spPr bwMode="auto">
          <a:xfrm>
            <a:off x="0" y="0"/>
            <a:ext cx="5892801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8" name="矩形 46"/>
          <p:cNvSpPr/>
          <p:nvPr/>
        </p:nvSpPr>
        <p:spPr bwMode="auto">
          <a:xfrm rot="5400000" flipV="1">
            <a:off x="1870073" y="-1870071"/>
            <a:ext cx="1238251" cy="497839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9" name="矩形 37"/>
          <p:cNvSpPr/>
          <p:nvPr/>
        </p:nvSpPr>
        <p:spPr bwMode="auto">
          <a:xfrm rot="5400000">
            <a:off x="1879593" y="3759200"/>
            <a:ext cx="1219201" cy="49783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60" name="组合 52"/>
          <p:cNvGrpSpPr/>
          <p:nvPr/>
        </p:nvGrpSpPr>
        <p:grpSpPr>
          <a:xfrm>
            <a:off x="1524000" y="1070224"/>
            <a:ext cx="2754050" cy="4646991"/>
            <a:chOff x="0" y="1111187"/>
            <a:chExt cx="2754050" cy="4646991"/>
          </a:xfrm>
        </p:grpSpPr>
        <p:sp>
          <p:nvSpPr>
            <p:cNvPr id="61" name="椭圆 47"/>
            <p:cNvSpPr/>
            <p:nvPr/>
          </p:nvSpPr>
          <p:spPr>
            <a:xfrm>
              <a:off x="2450246" y="4863799"/>
              <a:ext cx="200570" cy="200570"/>
            </a:xfrm>
            <a:prstGeom prst="ellipse">
              <a:avLst/>
            </a:pr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椭圆 48"/>
            <p:cNvSpPr/>
            <p:nvPr/>
          </p:nvSpPr>
          <p:spPr>
            <a:xfrm>
              <a:off x="0" y="1111187"/>
              <a:ext cx="312134" cy="312134"/>
            </a:xfrm>
            <a:prstGeom prst="ellipse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椭圆 49"/>
            <p:cNvSpPr/>
            <p:nvPr/>
          </p:nvSpPr>
          <p:spPr>
            <a:xfrm>
              <a:off x="1114320" y="1611397"/>
              <a:ext cx="904679" cy="90467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椭圆 50"/>
            <p:cNvSpPr/>
            <p:nvPr/>
          </p:nvSpPr>
          <p:spPr>
            <a:xfrm>
              <a:off x="854236" y="5460064"/>
              <a:ext cx="298114" cy="298114"/>
            </a:xfrm>
            <a:prstGeom prst="ellipse">
              <a:avLst/>
            </a:prstGeom>
            <a:solidFill>
              <a:schemeClr val="bg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椭圆 51"/>
            <p:cNvSpPr/>
            <p:nvPr/>
          </p:nvSpPr>
          <p:spPr>
            <a:xfrm>
              <a:off x="2313236" y="1194804"/>
              <a:ext cx="440814" cy="44081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6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476018"/>
            <a:ext cx="6648450" cy="3905964"/>
          </a:xfrm>
          <a:prstGeom prst="rect">
            <a:avLst/>
          </a:prstGeom>
        </p:spPr>
      </p:pic>
      <p:sp>
        <p:nvSpPr>
          <p:cNvPr id="67" name="任意多边形 38"/>
          <p:cNvSpPr/>
          <p:nvPr/>
        </p:nvSpPr>
        <p:spPr>
          <a:xfrm rot="16200000">
            <a:off x="1629971" y="1470438"/>
            <a:ext cx="6858003" cy="391712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9157486" h="2127943">
                <a:moveTo>
                  <a:pt x="9138134" y="0"/>
                </a:moveTo>
                <a:lnTo>
                  <a:pt x="9157486" y="2127943"/>
                </a:lnTo>
                <a:lnTo>
                  <a:pt x="13487" y="2127943"/>
                </a:lnTo>
                <a:lnTo>
                  <a:pt x="13487" y="1280202"/>
                </a:lnTo>
                <a:cubicBezTo>
                  <a:pt x="15496" y="857184"/>
                  <a:pt x="-1846" y="564666"/>
                  <a:pt x="163" y="141648"/>
                </a:cubicBezTo>
                <a:cubicBezTo>
                  <a:pt x="3568670" y="1577063"/>
                  <a:pt x="7137176" y="1131097"/>
                  <a:pt x="9138134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8" name="任意多边形 43"/>
          <p:cNvSpPr/>
          <p:nvPr/>
        </p:nvSpPr>
        <p:spPr>
          <a:xfrm rot="16200000">
            <a:off x="4283189" y="-16039"/>
            <a:ext cx="6868899" cy="6879174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68891" h="6879174">
                <a:moveTo>
                  <a:pt x="6868891" y="197279"/>
                </a:moveTo>
                <a:cubicBezTo>
                  <a:pt x="6865263" y="1808265"/>
                  <a:pt x="6858000" y="6879174"/>
                  <a:pt x="6858000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6" y="1257529"/>
                  <a:pt x="4524837" y="1741029"/>
                  <a:pt x="6868891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9" name="矩形 76"/>
          <p:cNvSpPr/>
          <p:nvPr/>
        </p:nvSpPr>
        <p:spPr>
          <a:xfrm>
            <a:off x="5706745" y="3724910"/>
            <a:ext cx="6430010" cy="645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二、</a:t>
            </a:r>
            <a:r>
              <a:rPr lang="en-US" alt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5G</a:t>
            </a:r>
            <a:r>
              <a:rPr lang="zh-CN" altLang="en-US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接入网与核心网关键</a:t>
            </a:r>
          </a:p>
        </p:txBody>
      </p:sp>
      <p:sp>
        <p:nvSpPr>
          <p:cNvPr id="70" name="矩形 78"/>
          <p:cNvSpPr/>
          <p:nvPr/>
        </p:nvSpPr>
        <p:spPr>
          <a:xfrm>
            <a:off x="5706784" y="4323706"/>
            <a:ext cx="6141329" cy="1198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zh-CN" sz="3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三、</a:t>
            </a:r>
            <a:r>
              <a:rPr lang="zh-CN" altLang="en-US" sz="3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架构优势与典型应用</a:t>
            </a:r>
          </a:p>
        </p:txBody>
      </p:sp>
      <p:sp>
        <p:nvSpPr>
          <p:cNvPr id="71" name="文本框 23"/>
          <p:cNvSpPr txBox="1"/>
          <p:nvPr/>
        </p:nvSpPr>
        <p:spPr>
          <a:xfrm>
            <a:off x="6085204" y="1153841"/>
            <a:ext cx="2194896" cy="14465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6000" dirty="0">
                <a:sym typeface="微软雅黑" panose="020B0503020204020204" pitchFamily="34" charset="-122"/>
              </a:rPr>
              <a:t>目 录</a:t>
            </a:r>
            <a:endParaRPr lang="en-US" altLang="zh-CN" sz="6000" dirty="0">
              <a:sym typeface="微软雅黑" panose="020B0503020204020204" pitchFamily="34" charset="-122"/>
            </a:endParaRPr>
          </a:p>
          <a:p>
            <a:r>
              <a:rPr lang="en-US" altLang="zh-CN" dirty="0">
                <a:sym typeface="微软雅黑" panose="020B0503020204020204" pitchFamily="34" charset="-122"/>
              </a:rPr>
              <a:t>CONTENTS</a:t>
            </a:r>
          </a:p>
        </p:txBody>
      </p:sp>
      <p:pic>
        <p:nvPicPr>
          <p:cNvPr id="72" name="图片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6000" y="825500"/>
            <a:ext cx="1397000" cy="1397000"/>
          </a:xfrm>
          <a:prstGeom prst="rect">
            <a:avLst/>
          </a:prstGeom>
        </p:spPr>
      </p:pic>
      <p:sp>
        <p:nvSpPr>
          <p:cNvPr id="73" name="文本框 1"/>
          <p:cNvSpPr txBox="1"/>
          <p:nvPr/>
        </p:nvSpPr>
        <p:spPr>
          <a:xfrm>
            <a:off x="5706745" y="2823845"/>
            <a:ext cx="5527040" cy="1198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一、</a:t>
            </a:r>
            <a:r>
              <a:rPr lang="en-US" alt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5G</a:t>
            </a:r>
            <a:r>
              <a:rPr lang="zh-CN" altLang="en-US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系统构架基础认知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1" descr="温大图片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76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78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0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82" name="文本框 48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en-US" sz="4000" b="0" dirty="0">
                <a:solidFill>
                  <a:srgbClr val="2172B8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+mn-cs"/>
              </a:rPr>
              <a:t>Part.1</a:t>
            </a:r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244600" y="3192780"/>
            <a:ext cx="615315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en-US" altLang="zh-CN" sz="4800" b="1" i="0" u="none" strike="noStrike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5G</a:t>
            </a:r>
            <a:r>
              <a:rPr lang="zh-CN" altLang="en-US" sz="4800" b="1" i="0" u="none" strike="noStrike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系统架构基础认知</a:t>
            </a:r>
            <a:endParaRPr lang="zh-CN" altLang="en-US" sz="4800" b="1" dirty="0">
              <a:solidFill>
                <a:schemeClr val="tx1">
                  <a:lumMod val="50000"/>
                  <a:lumOff val="50000"/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endParaRPr lang="en-US" altLang="zh-CN" sz="4800" b="1" i="0" u="none" strike="noStrike" dirty="0">
              <a:ln>
                <a:noFill/>
              </a:ln>
              <a:solidFill>
                <a:srgbClr val="044B89">
                  <a:alpha val="10000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5G</a:t>
            </a:r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系统架构基础认知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84507" y="1594733"/>
            <a:ext cx="10607675" cy="4591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不是单一技术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而是一套端到端的系统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由三大部分协同工作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</a:t>
            </a: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(UE) </a:t>
            </a:r>
            <a:r>
              <a:rPr lang="en-US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基站</a:t>
            </a: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(RAN) </a:t>
            </a:r>
            <a:r>
              <a:rPr lang="en-US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核心网</a:t>
            </a: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(5GC)</a:t>
            </a: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用户设备</a:t>
            </a:r>
          </a:p>
          <a:p>
            <a:pPr indent="363600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CPE(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客户终端设备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、物联网传感器、车载模块等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63600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5G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网络的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入口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",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接收数据</a:t>
            </a:r>
          </a:p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无线接入网</a:t>
            </a:r>
          </a:p>
          <a:p>
            <a:pPr indent="363600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终端与核心网之间的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"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桥梁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"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负责无线信号的收发与初步处理</a:t>
            </a:r>
          </a:p>
          <a:p>
            <a:pPr indent="363600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核心设备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5G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基站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gNB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5G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核心网</a:t>
            </a:r>
            <a:endParaRPr lang="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63600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采用了全新的服务化架构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所有网元以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"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"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形式交互</a:t>
            </a:r>
          </a:p>
          <a:p>
            <a:pPr indent="363600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主要功能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包括用户身份认证、移动性管理、策略控制、数据转发等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" descr="温大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  <p:sp>
        <p:nvSpPr>
          <p:cNvPr id="7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44B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/>
            </a:endParaRPr>
          </a:p>
        </p:txBody>
      </p:sp>
      <p:sp>
        <p:nvSpPr>
          <p:cNvPr id="8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9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0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1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13" name="文本框 63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Part.2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文本框 1"/>
          <p:cNvSpPr txBox="1"/>
          <p:nvPr/>
        </p:nvSpPr>
        <p:spPr>
          <a:xfrm>
            <a:off x="1244600" y="3192780"/>
            <a:ext cx="5772785" cy="1568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en-US" altLang="zh-CN" sz="4800" b="1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5G</a:t>
            </a:r>
            <a:r>
              <a:rPr lang="zh-CN" altLang="en-US" sz="4800" b="1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接入网与核心网关键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5G</a:t>
            </a:r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接入网与核心网关键</a:t>
            </a:r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>
          <a:blip r:embed="rId3"/>
          <a:srcRect t="9490" b="9490"/>
          <a:stretch>
            <a:fillRect/>
          </a:stretch>
        </p:blipFill>
        <p:spPr>
          <a:xfrm>
            <a:off x="450850" y="1651635"/>
            <a:ext cx="4572000" cy="2222500"/>
          </a:xfrm>
          <a:prstGeom prst="roundRect">
            <a:avLst>
              <a:gd name="adj" fmla="val 685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rcRect t="17592" b="17592"/>
          <a:stretch>
            <a:fillRect/>
          </a:stretch>
        </p:blipFill>
        <p:spPr>
          <a:xfrm>
            <a:off x="450850" y="4191000"/>
            <a:ext cx="4572000" cy="2222500"/>
          </a:xfrm>
          <a:prstGeom prst="roundRect">
            <a:avLst>
              <a:gd name="adj" fmla="val 685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1" name="文本框 10"/>
          <p:cNvSpPr txBox="1"/>
          <p:nvPr/>
        </p:nvSpPr>
        <p:spPr>
          <a:xfrm>
            <a:off x="2448560" y="878205"/>
            <a:ext cx="7479211" cy="6516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dirty="0" err="1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无线接入网</a:t>
            </a:r>
            <a:r>
              <a:rPr lang="en-US" sz="32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(RAN)——</a:t>
            </a:r>
            <a:r>
              <a:rPr lang="en-US" sz="3200" b="1" dirty="0" err="1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信号的</a:t>
            </a:r>
            <a:r>
              <a:rPr lang="en-US" altLang="zh-CN" sz="3200" b="1" dirty="0" err="1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"</a:t>
            </a:r>
            <a:r>
              <a:rPr lang="en-US" sz="3200" b="1" dirty="0" err="1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第一站</a:t>
            </a:r>
            <a:r>
              <a:rPr lang="en-US" altLang="zh-CN" sz="32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"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303520" y="1651635"/>
            <a:ext cx="6350820" cy="4794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1. 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主要设备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: 5G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基站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</a:t>
            </a:r>
            <a:r>
              <a:rPr lang="en-US" altLang="zh-CN" sz="2800" b="1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gNB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)</a:t>
            </a:r>
          </a:p>
          <a:p>
            <a:pPr indent="421200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Noto Sans SC" panose="020B0200000000000000" charset="-122"/>
              </a:rPr>
              <a:t>部署在铁塔、楼顶、灯杆上</a:t>
            </a:r>
          </a:p>
          <a:p>
            <a:pPr indent="421200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Noto Sans SC" panose="020B0200000000000000" charset="-122"/>
              </a:rPr>
              <a:t>功能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Noto Sans SC" panose="020B0200000000000000" charset="-122"/>
              </a:rPr>
              <a:t>: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Noto Sans SC" panose="020B0200000000000000" charset="-122"/>
              </a:rPr>
              <a:t>发射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Noto Sans SC" panose="020B0200000000000000" charset="-122"/>
              </a:rPr>
              <a:t>/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Noto Sans SC" panose="020B0200000000000000" charset="-122"/>
              </a:rPr>
              <a:t>接收无线信号、调度资源、管理终端接入</a:t>
            </a:r>
          </a:p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Noto Sans SC" panose="020B0200000000000000" charset="-122"/>
              </a:rPr>
              <a:t>2.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Noto Sans SC" panose="020B0200000000000000" charset="-122"/>
              </a:rPr>
              <a:t> 关键技术特性</a:t>
            </a:r>
            <a:endParaRPr 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421200" algn="l">
              <a:defRPr/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Noto Sans SC" panose="020B0200000000000000" charset="-122"/>
              </a:rPr>
              <a:t>Massive MIMO: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Noto Sans SC" panose="020B0200000000000000" charset="-122"/>
              </a:rPr>
              <a:t>同时服务多用户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421200" algn="l">
              <a:defRPr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Noto Sans SC" panose="020B0200000000000000" charset="-122"/>
              </a:rPr>
              <a:t>波束赋形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Noto Sans SC" panose="020B0200000000000000" charset="-122"/>
              </a:rPr>
              <a:t>: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Noto Sans SC" panose="020B0200000000000000" charset="-122"/>
              </a:rPr>
              <a:t>信号能量指向特定手机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421200" algn="l">
              <a:defRPr/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Noto Sans SC" panose="020B0200000000000000" charset="-122"/>
              </a:rPr>
              <a:t>CU/DU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Noto Sans SC" panose="020B0200000000000000" charset="-122"/>
              </a:rPr>
              <a:t>分离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Noto Sans SC" panose="020B0200000000000000" charset="-122"/>
              </a:rPr>
              <a:t>,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Noto Sans SC" panose="020B0200000000000000" charset="-122"/>
              </a:rPr>
              <a:t>灵活部署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3. RAN 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在整体结构中的位置</a:t>
            </a:r>
            <a:endParaRPr lang="en-US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421200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手机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(UE)</a:t>
            </a:r>
            <a:r>
              <a:rPr lang="en-US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⇄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无线空口、基站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gNB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)</a:t>
            </a:r>
            <a:r>
              <a:rPr lang="en-US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⇄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光纤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/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回传、核心网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(5GC)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5G</a:t>
            </a:r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接入网与核心网关键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448560" y="878205"/>
            <a:ext cx="7294245" cy="6519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5G</a:t>
            </a:r>
            <a:r>
              <a:rPr lang="zh-CN" altLang="en-US" sz="32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核心网</a:t>
            </a:r>
            <a:r>
              <a:rPr lang="en-US" sz="32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(5GC)——</a:t>
            </a:r>
            <a:r>
              <a:rPr lang="zh-CN" altLang="en-US" sz="32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网络</a:t>
            </a:r>
            <a:r>
              <a:rPr lang="en-US" sz="32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的</a:t>
            </a:r>
            <a:r>
              <a:rPr lang="en-US" altLang="zh-CN" sz="32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"</a:t>
            </a:r>
            <a:r>
              <a:rPr lang="zh-CN" altLang="en-US" sz="32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大脑</a:t>
            </a:r>
            <a:r>
              <a:rPr lang="en-US" altLang="zh-CN" sz="32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"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6933394"/>
              </p:ext>
            </p:extLst>
          </p:nvPr>
        </p:nvGraphicFramePr>
        <p:xfrm>
          <a:off x="580390" y="1941070"/>
          <a:ext cx="1034129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85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主要功能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AMF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用户接入验证、注册登记、位置更新、跨基站切换时保持连接不中断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UPF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用户数据的转发、路由、分流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 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低时延场景下可下沉到用户侧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边缘计算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SMF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分配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地址、建立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管理会话、控制数据通道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80390" y="1530115"/>
            <a:ext cx="4973320" cy="5302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1.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zh-CN" altLang="en-US" sz="2400" b="1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核心网两大</a:t>
            </a:r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"</a:t>
            </a:r>
            <a:r>
              <a:rPr lang="zh-CN" altLang="en-US" sz="2400" b="1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面</a:t>
            </a:r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"</a:t>
            </a:r>
            <a:r>
              <a:rPr lang="zh-CN" altLang="en-US" sz="2400" b="1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与关键网元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80389" y="3769870"/>
            <a:ext cx="9835819" cy="288082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>
              <a:spcBef>
                <a:spcPts val="800"/>
              </a:spcBef>
              <a:spcAft>
                <a:spcPts val="800"/>
              </a:spcAft>
            </a:pP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2.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en-US" altLang="zh-CN" sz="2400" b="1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5G </a:t>
            </a:r>
            <a:r>
              <a:rPr lang="zh-CN" altLang="en-US" sz="2400" b="1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核心网两大关键特性</a:t>
            </a:r>
          </a:p>
          <a:p>
            <a:pPr marL="0" indent="0">
              <a:spcBef>
                <a:spcPct val="0"/>
              </a:spcBef>
              <a:spcAft>
                <a:spcPts val="400"/>
              </a:spcAft>
            </a:pPr>
            <a:r>
              <a:rPr lang="en-US" altLang="zh-CN" sz="24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(1)</a:t>
            </a:r>
            <a:r>
              <a:rPr lang="zh-CN" altLang="en-US" sz="24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zh-CN" altLang="en-US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控制面与用户面分离</a:t>
            </a:r>
            <a:r>
              <a:rPr lang="en-US" altLang="zh-CN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(CUPS)</a:t>
            </a:r>
            <a:endParaRPr lang="zh-CN" altLang="en-US" sz="2400" b="0" i="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indent="457200">
              <a:spcBef>
                <a:spcPct val="0"/>
              </a:spcBef>
              <a:spcAft>
                <a:spcPts val="400"/>
              </a:spcAft>
              <a:buNone/>
            </a:pPr>
            <a:r>
              <a:rPr lang="zh-CN" altLang="en-US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把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"</a:t>
            </a:r>
            <a:r>
              <a:rPr lang="zh-CN" altLang="en-US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指挥调度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"</a:t>
            </a:r>
            <a:r>
              <a:rPr lang="en-US" altLang="zh-CN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</a:t>
            </a:r>
            <a:r>
              <a:rPr lang="zh-CN" altLang="en-US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控制面</a:t>
            </a:r>
            <a:r>
              <a:rPr lang="en-US" altLang="zh-CN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)</a:t>
            </a:r>
            <a:r>
              <a:rPr lang="zh-CN" altLang="en-US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"</a:t>
            </a:r>
            <a:r>
              <a:rPr lang="zh-CN" altLang="en-US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货物运输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"</a:t>
            </a:r>
            <a:r>
              <a:rPr lang="en-US" altLang="zh-CN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</a:t>
            </a:r>
            <a:r>
              <a:rPr lang="zh-CN" altLang="en-US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用户面</a:t>
            </a:r>
            <a:r>
              <a:rPr lang="en-US" altLang="zh-CN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)</a:t>
            </a:r>
            <a:r>
              <a:rPr lang="zh-CN" altLang="en-US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彻底分开</a:t>
            </a:r>
          </a:p>
          <a:p>
            <a:pPr marL="0" lvl="1" indent="45720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控制逻辑集中管理</a:t>
            </a:r>
            <a:r>
              <a:rPr lang="en-US" altLang="zh-CN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 </a:t>
            </a:r>
            <a:r>
              <a:rPr lang="zh-CN" altLang="en-US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数据传输就近处理</a:t>
            </a:r>
            <a:r>
              <a:rPr lang="en-US" altLang="zh-CN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→</a:t>
            </a:r>
            <a:r>
              <a:rPr lang="zh-CN" altLang="en-US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减少路径</a:t>
            </a:r>
            <a:r>
              <a:rPr lang="en-US" altLang="zh-CN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 </a:t>
            </a:r>
            <a:r>
              <a:rPr lang="zh-CN" altLang="en-US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降低时延</a:t>
            </a:r>
            <a:endParaRPr lang="en-US" altLang="zh-CN" sz="2400" b="0" i="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24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</a:t>
            </a:r>
            <a:r>
              <a:rPr lang="en-US" altLang="zh-CN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2) </a:t>
            </a:r>
            <a:r>
              <a:rPr lang="zh-CN" altLang="en-US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网络切片技术</a:t>
            </a:r>
          </a:p>
          <a:p>
            <a:pPr marL="0" lvl="1" indent="45720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在同一物理网络上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"</a:t>
            </a:r>
            <a:r>
              <a:rPr lang="zh-CN" altLang="en-US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"</a:t>
            </a:r>
            <a:r>
              <a:rPr lang="zh-CN" altLang="en-US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出多个相互隔离的虚拟专用网络</a:t>
            </a:r>
          </a:p>
          <a:p>
            <a:pPr marL="0" lvl="1" indent="45720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2400" b="0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可为自动驾驶、工业控制、远程医疗等不同行业提供定制专属服务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" descr="温大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  <p:sp>
        <p:nvSpPr>
          <p:cNvPr id="20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44B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/>
            </a:endParaRPr>
          </a:p>
        </p:txBody>
      </p:sp>
      <p:sp>
        <p:nvSpPr>
          <p:cNvPr id="21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22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3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4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26" name="文本框 63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Part.3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1244828" y="3193014"/>
            <a:ext cx="753749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 err="1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架构优势与典型应用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三、架构优势与典型应用</a:t>
            </a: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9902610"/>
              </p:ext>
            </p:extLst>
          </p:nvPr>
        </p:nvGraphicFramePr>
        <p:xfrm>
          <a:off x="584507" y="1192372"/>
          <a:ext cx="11166387" cy="2351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带来的价值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0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灵活编排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服务化架构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(SBA)+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网络切片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一个物理网络切出多个逻辑专网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按需分配资源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超低时延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控制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用户面分离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(CUPS)+</a:t>
                      </a:r>
                    </a:p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边缘计算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(MEC)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数据处理下沉到基站附近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, 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时延可低至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高速大容量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MassiveMIMO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+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大带宽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(100MHz-800MHz)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峰值速率可达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10-20Gbps, 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连接密度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百万级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/km</a:t>
                      </a:r>
                      <a:r>
                        <a:rPr lang="en-US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051107" y="731997"/>
            <a:ext cx="2089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三大架构优势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826262" y="3656330"/>
            <a:ext cx="26828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三大典型应用场景</a:t>
            </a:r>
          </a:p>
        </p:txBody>
      </p:sp>
      <p:graphicFrame>
        <p:nvGraphicFramePr>
          <p:cNvPr id="9" name="表格 8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19474822"/>
              </p:ext>
            </p:extLst>
          </p:nvPr>
        </p:nvGraphicFramePr>
        <p:xfrm>
          <a:off x="584507" y="4116705"/>
          <a:ext cx="11166386" cy="227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6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7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2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对应优势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对应应用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eMBB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增强移动宽带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)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高速大容量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4K/8K </a:t>
                      </a: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视频、</a:t>
                      </a: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VR/AR</a:t>
                      </a: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、云游戏、场馆直播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uRLLC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超可靠低时延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)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超低时延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+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高可靠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自动驾驶、工业机器人远程控制、智慧电网、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远程手术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mMTC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海量机器通信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)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大连接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+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低功耗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智能抄表、环境监测、物流追踪、智慧城市传感器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89*158"/>
  <p:tag name="TABLE_ENDDRAG_RECT" val="45*190*689*15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34*155"/>
  <p:tag name="TABLE_ENDDRAG_RECT" val="46*109*834*15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34*167"/>
  <p:tag name="TABLE_ENDDRAG_RECT" val="62*321*834*167"/>
</p:tagLst>
</file>

<file path=ppt/theme/theme1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682</Words>
  <Application>Microsoft Office PowerPoint</Application>
  <PresentationFormat>宽屏</PresentationFormat>
  <Paragraphs>90</Paragraphs>
  <Slides>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等线</vt:lpstr>
      <vt:lpstr>思源黑体 CN Normal</vt:lpstr>
      <vt:lpstr>微软雅黑</vt:lpstr>
      <vt:lpstr>Arial</vt:lpstr>
      <vt:lpstr>Calibri</vt:lpstr>
      <vt:lpstr>Times New Roman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id Bocchi</cp:lastModifiedBy>
  <cp:revision>21</cp:revision>
  <dcterms:created xsi:type="dcterms:W3CDTF">2026-04-02T13:08:00Z</dcterms:created>
  <dcterms:modified xsi:type="dcterms:W3CDTF">2026-05-08T14:12:40Z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12DCD5DA62B94AF8AE5EC323AA47B838_13</vt:lpwstr>
  </property>
  <property fmtid="{D5CDD505-2E9C-101B-9397-08002B2CF9AE}" pid="3" name="KSOProductBuildVer">
    <vt:lpwstr>2052-12.1.0.20305</vt:lpwstr>
  </property>
</Properties>
</file>