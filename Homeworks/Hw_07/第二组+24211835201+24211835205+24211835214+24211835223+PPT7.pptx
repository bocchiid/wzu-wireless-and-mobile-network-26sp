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76" r:id="rId5"/>
    <p:sldId id="265" r:id="rId6"/>
    <p:sldId id="282" r:id="rId7"/>
    <p:sldId id="267" r:id="rId8"/>
    <p:sldId id="26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6964F23-0C85-4586-BAD8-BE09555FF6F0}">
          <p14:sldIdLst>
            <p14:sldId id="256"/>
            <p14:sldId id="257"/>
            <p14:sldId id="258"/>
            <p14:sldId id="276"/>
            <p14:sldId id="265"/>
            <p14:sldId id="282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B89"/>
    <a:srgbClr val="0265FC"/>
    <a:srgbClr val="6B8AB8"/>
    <a:srgbClr val="23346B"/>
    <a:srgbClr val="606060"/>
    <a:srgbClr val="7F7F7F"/>
    <a:srgbClr val="EAEAEA"/>
    <a:srgbClr val="8BADDA"/>
    <a:srgbClr val="FDFDF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6391" autoAdjust="0"/>
  </p:normalViewPr>
  <p:slideViewPr>
    <p:cSldViewPr snapToGrid="0">
      <p:cViewPr varScale="1">
        <p:scale>
          <a:sx n="84" d="100"/>
          <a:sy n="84" d="100"/>
        </p:scale>
        <p:origin x="156" y="4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8D523-4D3D-4F11-8579-2B4BF489780F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0B82E-EF7D-4A61-B6BF-9954BCE8AF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20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grpSp>
        <p:nvGrpSpPr>
          <p:cNvPr id="50" name="组合 2"/>
          <p:cNvGrpSpPr/>
          <p:nvPr/>
        </p:nvGrpSpPr>
        <p:grpSpPr>
          <a:xfrm>
            <a:off x="1905" y="2552700"/>
            <a:ext cx="12202795" cy="4305300"/>
            <a:chOff x="0" y="3312958"/>
            <a:chExt cx="12192000" cy="3644278"/>
          </a:xfrm>
        </p:grpSpPr>
        <p:sp>
          <p:nvSpPr>
            <p:cNvPr id="51" name="任意多边形: 形状 22"/>
            <p:cNvSpPr/>
            <p:nvPr/>
          </p:nvSpPr>
          <p:spPr>
            <a:xfrm flipH="1">
              <a:off x="0" y="3312958"/>
              <a:ext cx="12192000" cy="1725442"/>
            </a:xfrm>
            <a:custGeom>
              <a:avLst/>
              <a:gdLst>
                <a:gd name="connsiteX0" fmla="*/ 12192000 w 12192000"/>
                <a:gd name="connsiteY0" fmla="*/ 1085850 h 2432050"/>
                <a:gd name="connsiteX1" fmla="*/ 12192000 w 12192000"/>
                <a:gd name="connsiteY1" fmla="*/ 921385 h 2432050"/>
                <a:gd name="connsiteX2" fmla="*/ 6939915 w 12192000"/>
                <a:gd name="connsiteY2" fmla="*/ 2085975 h 2432050"/>
                <a:gd name="connsiteX3" fmla="*/ 0 w 12192000"/>
                <a:gd name="connsiteY3" fmla="*/ 0 h 2432050"/>
                <a:gd name="connsiteX4" fmla="*/ 0 w 12192000"/>
                <a:gd name="connsiteY4" fmla="*/ 1098550 h 2432050"/>
                <a:gd name="connsiteX5" fmla="*/ 6022975 w 12192000"/>
                <a:gd name="connsiteY5" fmla="*/ 2435860 h 2432050"/>
                <a:gd name="connsiteX6" fmla="*/ 12192000 w 12192000"/>
                <a:gd name="connsiteY6" fmla="*/ 1085850 h 243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432050">
                  <a:moveTo>
                    <a:pt x="12192000" y="1085850"/>
                  </a:moveTo>
                  <a:lnTo>
                    <a:pt x="12192000" y="921385"/>
                  </a:lnTo>
                  <a:cubicBezTo>
                    <a:pt x="10547985" y="1675765"/>
                    <a:pt x="8780780" y="2085975"/>
                    <a:pt x="6939915" y="2085975"/>
                  </a:cubicBezTo>
                  <a:cubicBezTo>
                    <a:pt x="4451350" y="2085975"/>
                    <a:pt x="2096135" y="1336040"/>
                    <a:pt x="0" y="0"/>
                  </a:cubicBezTo>
                  <a:lnTo>
                    <a:pt x="0" y="1098550"/>
                  </a:lnTo>
                  <a:cubicBezTo>
                    <a:pt x="1849120" y="1959610"/>
                    <a:pt x="3884930" y="2435860"/>
                    <a:pt x="6022975" y="2435860"/>
                  </a:cubicBezTo>
                  <a:cubicBezTo>
                    <a:pt x="8217535" y="2436495"/>
                    <a:pt x="10935335" y="1819275"/>
                    <a:pt x="12192000" y="108585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  <p:sp>
          <p:nvSpPr>
            <p:cNvPr id="52" name="任意多边形: 形状 19"/>
            <p:cNvSpPr/>
            <p:nvPr/>
          </p:nvSpPr>
          <p:spPr>
            <a:xfrm flipH="1">
              <a:off x="0" y="4054714"/>
              <a:ext cx="12192000" cy="2902522"/>
            </a:xfrm>
            <a:custGeom>
              <a:avLst/>
              <a:gdLst>
                <a:gd name="connsiteX0" fmla="*/ 12191368 w 12192000"/>
                <a:gd name="connsiteY0" fmla="*/ 0 h 3089202"/>
                <a:gd name="connsiteX1" fmla="*/ 12069968 w 12192000"/>
                <a:gd name="connsiteY1" fmla="*/ 48278 h 3089202"/>
                <a:gd name="connsiteX2" fmla="*/ 6022975 w 12192000"/>
                <a:gd name="connsiteY2" fmla="*/ 957527 h 3089202"/>
                <a:gd name="connsiteX3" fmla="*/ 0 w 12192000"/>
                <a:gd name="connsiteY3" fmla="*/ 8759 h 3089202"/>
                <a:gd name="connsiteX4" fmla="*/ 0 w 12192000"/>
                <a:gd name="connsiteY4" fmla="*/ 3089202 h 3089202"/>
                <a:gd name="connsiteX5" fmla="*/ 12192000 w 12192000"/>
                <a:gd name="connsiteY5" fmla="*/ 3089202 h 3089202"/>
                <a:gd name="connsiteX6" fmla="*/ 12191368 w 12192000"/>
                <a:gd name="connsiteY6" fmla="*/ 0 h 308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089202">
                  <a:moveTo>
                    <a:pt x="12191368" y="0"/>
                  </a:moveTo>
                  <a:lnTo>
                    <a:pt x="12069968" y="48278"/>
                  </a:lnTo>
                  <a:cubicBezTo>
                    <a:pt x="10765984" y="547025"/>
                    <a:pt x="8148955" y="957964"/>
                    <a:pt x="6022975" y="957527"/>
                  </a:cubicBezTo>
                  <a:cubicBezTo>
                    <a:pt x="3884930" y="957527"/>
                    <a:pt x="1849120" y="619647"/>
                    <a:pt x="0" y="8759"/>
                  </a:cubicBezTo>
                  <a:lnTo>
                    <a:pt x="0" y="3089202"/>
                  </a:lnTo>
                  <a:lnTo>
                    <a:pt x="12192000" y="3089202"/>
                  </a:lnTo>
                  <a:lnTo>
                    <a:pt x="12191368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3" name="文本框 13"/>
          <p:cNvSpPr txBox="1"/>
          <p:nvPr/>
        </p:nvSpPr>
        <p:spPr>
          <a:xfrm>
            <a:off x="3079798" y="4591050"/>
            <a:ext cx="6031767" cy="15684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</a:rPr>
              <a:t>教学大楼五号楼无线局域网的规划与设计</a:t>
            </a:r>
          </a:p>
        </p:txBody>
      </p:sp>
      <p:pic>
        <p:nvPicPr>
          <p:cNvPr id="54" name="图片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440305" y="6159500"/>
            <a:ext cx="7310755" cy="64516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Team2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韩贤煜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周靖杭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曾坤</a:t>
            </a: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贾杰凡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/>
          <p:nvPr/>
        </p:nvSpPr>
        <p:spPr bwMode="auto"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矩形 46"/>
          <p:cNvSpPr/>
          <p:nvPr/>
        </p:nvSpPr>
        <p:spPr bwMode="auto"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矩形 37"/>
          <p:cNvSpPr/>
          <p:nvPr/>
        </p:nvSpPr>
        <p:spPr bwMode="auto"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0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61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6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" name="任意多边形 43"/>
          <p:cNvSpPr/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矩形 76"/>
          <p:cNvSpPr/>
          <p:nvPr/>
        </p:nvSpPr>
        <p:spPr>
          <a:xfrm>
            <a:off x="5706745" y="3724910"/>
            <a:ext cx="6430010" cy="645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二、无线局域网的规划与设计</a:t>
            </a:r>
          </a:p>
        </p:txBody>
      </p:sp>
      <p:sp>
        <p:nvSpPr>
          <p:cNvPr id="70" name="矩形 78"/>
          <p:cNvSpPr/>
          <p:nvPr/>
        </p:nvSpPr>
        <p:spPr>
          <a:xfrm>
            <a:off x="5706784" y="4323706"/>
            <a:ext cx="6141329" cy="119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三、无线局域网部署分析</a:t>
            </a:r>
          </a:p>
        </p:txBody>
      </p:sp>
      <p:sp>
        <p:nvSpPr>
          <p:cNvPr id="71" name="文本框 23"/>
          <p:cNvSpPr txBox="1"/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>
                <a:sym typeface="微软雅黑" panose="020B0503020204020204" pitchFamily="34" charset="-122"/>
              </a:rPr>
              <a:t>目 录</a:t>
            </a:r>
            <a:endParaRPr lang="en-US" altLang="zh-CN" sz="6000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CONTENTS</a:t>
            </a:r>
          </a:p>
        </p:txBody>
      </p:sp>
      <p:pic>
        <p:nvPicPr>
          <p:cNvPr id="72" name="图片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 txBox="1"/>
          <p:nvPr/>
        </p:nvSpPr>
        <p:spPr>
          <a:xfrm>
            <a:off x="5706745" y="2823845"/>
            <a:ext cx="552704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一、楼层平面图分析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1" descr="温大图片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</p:pic>
      <p:sp>
        <p:nvSpPr>
          <p:cNvPr id="76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78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82" name="文本框 48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en-US" sz="4000" b="0" dirty="0"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Part.1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244600" y="3192780"/>
            <a:ext cx="58407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i="0" u="none" strike="noStrike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楼层平面图分析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、楼层平面图分析</a:t>
            </a:r>
          </a:p>
        </p:txBody>
      </p:sp>
      <p:pic>
        <p:nvPicPr>
          <p:cNvPr id="3" name="图片 2" descr="111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730" y="1365885"/>
            <a:ext cx="9815195" cy="2375535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extLst>
              <p:ext uri="{D42A27DB-BD31-4B8C-83A1-F6EECF244321}">
                <p14:modId xmlns:p14="http://schemas.microsoft.com/office/powerpoint/2010/main" val="1024126166"/>
              </p:ext>
            </p:extLst>
          </p:nvPr>
        </p:nvGraphicFramePr>
        <p:xfrm>
          <a:off x="1013460" y="3953537"/>
          <a:ext cx="981646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2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2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2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区域类型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办公室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2~6</a:t>
                      </a: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房间内资料柜等障碍物较多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40</a:t>
                      </a: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人左右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人数多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对网络延迟要求高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资料室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常年没人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物品多且杂乱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会议室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人左右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人数少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走廊公共区域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人数不定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空旷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7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8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9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0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1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13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1244828" y="3193014"/>
            <a:ext cx="5764789" cy="156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无线局域网的规划</a:t>
            </a:r>
            <a:endParaRPr lang="en-US" altLang="zh-CN" sz="4800" b="1" dirty="0">
              <a:ln>
                <a:noFill/>
              </a:ln>
              <a:solidFill>
                <a:srgbClr val="044B89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与设计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、无线局域网的规划与设计</a:t>
            </a:r>
          </a:p>
        </p:txBody>
      </p:sp>
      <p:pic>
        <p:nvPicPr>
          <p:cNvPr id="7" name="图片 6" descr="计算机学院_3层  L3_系统规划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40" y="889635"/>
            <a:ext cx="11577320" cy="3165475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extLst>
              <p:ext uri="{D42A27DB-BD31-4B8C-83A1-F6EECF244321}">
                <p14:modId xmlns:p14="http://schemas.microsoft.com/office/powerpoint/2010/main" val="2350876746"/>
              </p:ext>
            </p:extLst>
          </p:nvPr>
        </p:nvGraphicFramePr>
        <p:xfrm>
          <a:off x="354964" y="3730624"/>
          <a:ext cx="11373209" cy="2505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6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设计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部署间距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采用约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10-15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米的等间距蜂窝式布点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以平衡信号重叠度与干扰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设备选型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全场选用</a:t>
                      </a:r>
                      <a:r>
                        <a:rPr lang="en-US" altLang="zh-CN" sz="2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AirEngine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6776-56TP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等高性能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78">
                <a:tc row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针对性策略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机房内部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采用室内独立布点方案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规避墙体损耗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确保末端信号质量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7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办公室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利用走廊侧吸顶安装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配合门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窗的气窗效应实现穿透覆盖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7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走廊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3-5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米部署一个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AP, 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确保人员移动时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SSID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切换的平滑性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 descr="温大图片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</p:pic>
      <p:sp>
        <p:nvSpPr>
          <p:cNvPr id="20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21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22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3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4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26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1244828" y="3193014"/>
            <a:ext cx="753749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无线局域网部署分析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三、无线局域网部署分析</a:t>
            </a:r>
          </a:p>
        </p:txBody>
      </p:sp>
      <p:pic>
        <p:nvPicPr>
          <p:cNvPr id="4" name="图片 3" descr="计算机学院_3层  L3_2.4G&amp;5G场强规划仿真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1260475"/>
            <a:ext cx="10845800" cy="26676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4200" y="3928110"/>
            <a:ext cx="10934700" cy="279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信号强度标准</a:t>
            </a:r>
            <a:r>
              <a:rPr lang="en-US" altLang="zh-CN" sz="2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仿真结果显示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全层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95%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以上区域信号强度达到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-45dBm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-65dBm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之间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图中青蓝色饱和区域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完全符合高质量语音与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4K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视频流的传输标准</a:t>
            </a:r>
          </a:p>
          <a:p>
            <a:r>
              <a:rPr lang="zh-CN" altLang="en-US" sz="2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边缘信号保护</a:t>
            </a:r>
            <a:r>
              <a:rPr lang="en-US" altLang="zh-CN" sz="2200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在办公室角落及走廊末端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信号仍保持在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-65dBm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以上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确保了在信号最弱处的链路稳定性</a:t>
            </a:r>
          </a:p>
          <a:p>
            <a:r>
              <a:rPr lang="zh-CN" altLang="en-US" sz="2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干扰屏蔽</a:t>
            </a:r>
            <a:r>
              <a:rPr lang="en-US" altLang="zh-CN" sz="2200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通过热力图可见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间的信道干扰被压制在安全范围内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冷色调分布均匀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无明显盲区</a:t>
            </a:r>
          </a:p>
          <a:p>
            <a:r>
              <a:rPr lang="zh-CN" altLang="en-US" sz="22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比例尺与精度</a:t>
            </a:r>
            <a:r>
              <a:rPr lang="en-US" altLang="zh-CN" sz="2200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仿真基于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1.16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米的比例尺进行精确建模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真实反映了隔墙材质对电磁波衰减的实际物理特性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342</Words>
  <Application>Microsoft Office PowerPoint</Application>
  <PresentationFormat>宽屏</PresentationFormat>
  <Paragraphs>55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思源黑体 CN Normal</vt:lpstr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id Bocchi</cp:lastModifiedBy>
  <cp:revision>14</cp:revision>
  <dcterms:created xsi:type="dcterms:W3CDTF">2026-04-02T13:08:00Z</dcterms:created>
  <dcterms:modified xsi:type="dcterms:W3CDTF">2026-04-17T09:01:47Z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12DCD5DA62B94AF8AE5EC323AA47B838_13</vt:lpwstr>
  </property>
  <property fmtid="{D5CDD505-2E9C-101B-9397-08002B2CF9AE}" pid="3" name="KSOProductBuildVer">
    <vt:lpwstr>2052-12.1.0.25225</vt:lpwstr>
  </property>
</Properties>
</file>