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6" r:id="rId3"/>
  </p:sldMasterIdLst>
  <p:notesMasterIdLst>
    <p:notesMasterId r:id="rId14"/>
  </p:notesMasterIdLst>
  <p:sldIdLst>
    <p:sldId id="256" r:id="rId4"/>
    <p:sldId id="257" r:id="rId5"/>
    <p:sldId id="258" r:id="rId6"/>
    <p:sldId id="276" r:id="rId7"/>
    <p:sldId id="265" r:id="rId8"/>
    <p:sldId id="282" r:id="rId9"/>
    <p:sldId id="267" r:id="rId10"/>
    <p:sldId id="285" r:id="rId11"/>
    <p:sldId id="284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85"/>
            <p14:sldId id="284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43791"/>
    <a:srgbClr val="0265FC"/>
    <a:srgbClr val="6B8AB8"/>
    <a:srgbClr val="23346B"/>
    <a:srgbClr val="606060"/>
    <a:srgbClr val="7F7F7F"/>
    <a:srgbClr val="EAEAEA"/>
    <a:srgbClr val="8BADDA"/>
    <a:srgbClr val="FDF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391" autoAdjust="0"/>
  </p:normalViewPr>
  <p:slideViewPr>
    <p:cSldViewPr snapToGrid="0">
      <p:cViewPr varScale="1">
        <p:scale>
          <a:sx n="84" d="100"/>
          <a:sy n="84" d="100"/>
        </p:scale>
        <p:origin x="156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2143125" y="4542155"/>
            <a:ext cx="7905115" cy="153098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对端节点和移动节点的数据包的路由过程</a:t>
            </a:r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598932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对端节点到移动节点</a:t>
            </a:r>
          </a:p>
        </p:txBody>
      </p:sp>
      <p:sp>
        <p:nvSpPr>
          <p:cNvPr id="70" name="矩形 78"/>
          <p:cNvSpPr/>
          <p:nvPr/>
        </p:nvSpPr>
        <p:spPr>
          <a:xfrm>
            <a:off x="5706745" y="4508500"/>
            <a:ext cx="6141085" cy="762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三、移动节点到对端节点</a:t>
            </a: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5527040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一、拓扑与角色定义</a:t>
            </a:r>
          </a:p>
        </p:txBody>
      </p:sp>
      <p:sp>
        <p:nvSpPr>
          <p:cNvPr id="2" name="矩形 78"/>
          <p:cNvSpPr/>
          <p:nvPr/>
        </p:nvSpPr>
        <p:spPr>
          <a:xfrm>
            <a:off x="5706745" y="5197475"/>
            <a:ext cx="6141085" cy="99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四、关键机制与总结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615315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拓扑与角色定义</a:t>
            </a: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endParaRPr lang="zh-CN" altLang="en-US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、拓扑与角色定义</a:t>
            </a:r>
            <a:endParaRPr lang="zh-CN" altLang="en-US" sz="36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endParaRPr lang="zh-CN" altLang="en-US" sz="36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4181" y="1973506"/>
            <a:ext cx="7715250" cy="4302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网络拓扑结构说明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本地网络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的归属网络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其路由器为家乡代理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负责维护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的位置信息并处理隧道封装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外地网络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当前接入的网络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其路由器为外地代理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负责接收隧道数据包并转发给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Internet: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公共传输网络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HA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之间建立了专用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隧道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用于封装传输数据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移动节点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终端设备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在外地网络中使用转交地址接入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归属地址属于本地网络网段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对端节点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X: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通信对端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直接接入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Internet, 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地址为固定公网地址</a:t>
            </a:r>
          </a:p>
        </p:txBody>
      </p:sp>
      <p:pic>
        <p:nvPicPr>
          <p:cNvPr id="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055" y="2716586"/>
            <a:ext cx="4512945" cy="31286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600" y="3192780"/>
            <a:ext cx="5772785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对端节点到移动节点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二、对端节点到移动节点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5488" y="1511592"/>
            <a:ext cx="7473201" cy="4930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数据包初始发送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的归属地址发数据包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根据路由表送入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Internet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数据包到达归属代理</a:t>
            </a:r>
          </a:p>
          <a:p>
            <a:pPr indent="34920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数据包路由至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HA, HA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查询注册表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当前的转交地址为外地代理地址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IP-in-IP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隧道封装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对原始包做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IP-in-IP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头源为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地址、目的为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隧道传输</a:t>
            </a:r>
          </a:p>
          <a:p>
            <a:pPr indent="349200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封装包通过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间的隧道在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Internet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传输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解封装与本地转发</a:t>
            </a:r>
          </a:p>
          <a:p>
            <a:pPr indent="349200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收到封装包后解封装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恢复原始包并转发给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86E962-07E7-96B5-1232-8B3698A21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689" y="2552674"/>
            <a:ext cx="4010025" cy="28479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移动节点到对端节点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三、移动节点到对端节点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5790" y="2080260"/>
            <a:ext cx="6502400" cy="3468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数据包初始发送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发送目的地址为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的家乡地址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数据包发送至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将数据包转发给外地网络的默认网关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外地代理</a:t>
            </a:r>
          </a:p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直接路由转发</a:t>
            </a:r>
          </a:p>
          <a:p>
            <a:pPr indent="3492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根据标准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路由规则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Internet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将数据包转发给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无需隧道封装</a:t>
            </a:r>
          </a:p>
        </p:txBody>
      </p:sp>
      <p:pic>
        <p:nvPicPr>
          <p:cNvPr id="8" name="图片 7" descr="微信图片_20260528183216_72_4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1875155"/>
            <a:ext cx="5593080" cy="3878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6755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37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关键机制与总结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200" y="166370"/>
            <a:ext cx="7359650" cy="82169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四、关键机制与总结</a:t>
            </a:r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3600" b="1" dirty="0">
              <a:ln>
                <a:noFill/>
              </a:ln>
              <a:solidFill>
                <a:srgbClr val="044B8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7820" y="1673470"/>
            <a:ext cx="115119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隧道的核心作用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下行通信的必需路径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无法感知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的当前位置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只能将数据包发送到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HoA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通过隧道转发到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当前所在的外地网络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确保数据包不丢失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数据安全性保障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隧道封装可隐藏内层数据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防止中间网络窃听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同时支持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IPsec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等加密协议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提升传输安全性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7820" y="3634105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路由逻辑总结</a:t>
            </a: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5870859"/>
              </p:ext>
            </p:extLst>
          </p:nvPr>
        </p:nvGraphicFramePr>
        <p:xfrm>
          <a:off x="337819" y="4218940"/>
          <a:ext cx="10595223" cy="210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7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→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X→HA(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封装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)→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隧道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→FA(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解封装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)→A(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三角路由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隧道封装与转发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7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→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</a:t>
                      </a:r>
                      <a:r>
                        <a:rPr lang="en-US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Internet</a:t>
                      </a:r>
                      <a:r>
                        <a:rPr lang="en-US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直接路由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09*127"/>
  <p:tag name="TABLE_ENDDRAG_RECT" val="57*332*809*127"/>
</p:tagLst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537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25</cp:revision>
  <dcterms:created xsi:type="dcterms:W3CDTF">2026-04-02T13:08:00Z</dcterms:created>
  <dcterms:modified xsi:type="dcterms:W3CDTF">2026-05-29T12:49:37Z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3D05172B01C74B01BD5EA3719E1E8185_13</vt:lpwstr>
  </property>
  <property fmtid="{D5CDD505-2E9C-101B-9397-08002B2CF9AE}" pid="3" name="KSOProductBuildVer">
    <vt:lpwstr>2052-12.1.0.20305</vt:lpwstr>
  </property>
</Properties>
</file>