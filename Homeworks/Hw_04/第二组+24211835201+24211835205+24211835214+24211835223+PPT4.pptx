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3"/>
    <p:sldMasterId id="2147483686" r:id="rId4"/>
    <p:sldMasterId id="2147483705" r:id="rId5"/>
  </p:sldMasterIdLst>
  <p:notesMasterIdLst>
    <p:notesMasterId r:id="rId8"/>
  </p:notesMasterIdLst>
  <p:sldIdLst>
    <p:sldId id="256" r:id="rId6"/>
    <p:sldId id="257" r:id="rId7"/>
    <p:sldId id="258" r:id="rId9"/>
    <p:sldId id="276" r:id="rId10"/>
    <p:sldId id="286" r:id="rId11"/>
    <p:sldId id="265" r:id="rId12"/>
    <p:sldId id="284" r:id="rId13"/>
    <p:sldId id="28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6964F23-0C85-4586-BAD8-BE09555FF6F0}">
          <p14:sldIdLst>
            <p14:sldId id="256"/>
            <p14:sldId id="257"/>
            <p14:sldId id="258"/>
            <p14:sldId id="276"/>
            <p14:sldId id="286"/>
            <p14:sldId id="265"/>
            <p14:sldId id="284"/>
            <p14:sldId id="28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B89"/>
    <a:srgbClr val="0265FC"/>
    <a:srgbClr val="6B8AB8"/>
    <a:srgbClr val="23346B"/>
    <a:srgbClr val="606060"/>
    <a:srgbClr val="7F7F7F"/>
    <a:srgbClr val="EAEAEA"/>
    <a:srgbClr val="8BADDA"/>
    <a:srgbClr val="FDFDFC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96391" autoAdjust="0"/>
  </p:normalViewPr>
  <p:slideViewPr>
    <p:cSldViewPr snapToGrid="0">
      <p:cViewPr varScale="1">
        <p:scale>
          <a:sx n="82" d="100"/>
          <a:sy n="82" d="100"/>
        </p:scale>
        <p:origin x="466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2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8D523-4D3D-4F11-8579-2B4BF48978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0B82E-EF7D-4A61-B6BF-9954BCE8AF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1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0" bIns="7200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algn="l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 7"/>
          <p:cNvSpPr txBox="1"/>
          <p:nvPr userDrawn="1"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F4E898-F71E-428E-9156-545EA3B620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88B338-6790-4F3E-9930-96BA1D42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0" bIns="7200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algn="l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 7"/>
          <p:cNvSpPr txBox="1"/>
          <p:nvPr userDrawn="1"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F4E898-F71E-428E-9156-545EA3B620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88B338-6790-4F3E-9930-96BA1D42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0" bIns="7200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algn="l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 7"/>
          <p:cNvSpPr txBox="1"/>
          <p:nvPr userDrawn="1"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F4E898-F71E-428E-9156-545EA3B620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88B338-6790-4F3E-9930-96BA1D42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0" bIns="7200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algn="l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 7"/>
          <p:cNvSpPr txBox="1"/>
          <p:nvPr userDrawn="1"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F4E898-F71E-428E-9156-545EA3B620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88B338-6790-4F3E-9930-96BA1D42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.pn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9" Type="http://schemas.openxmlformats.org/officeDocument/2006/relationships/image" Target="../media/image1.png"/><Relationship Id="rId18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0" Type="http://schemas.openxmlformats.org/officeDocument/2006/relationships/theme" Target="../theme/theme3.xml"/><Relationship Id="rId2" Type="http://schemas.openxmlformats.org/officeDocument/2006/relationships/slideLayout" Target="../slideLayouts/slideLayout38.xml"/><Relationship Id="rId19" Type="http://schemas.openxmlformats.org/officeDocument/2006/relationships/image" Target="../media/image1.png"/><Relationship Id="rId18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7.xml"/><Relationship Id="rId20" Type="http://schemas.openxmlformats.org/officeDocument/2006/relationships/theme" Target="../theme/theme4.xml"/><Relationship Id="rId2" Type="http://schemas.openxmlformats.org/officeDocument/2006/relationships/slideLayout" Target="../slideLayouts/slideLayout56.xml"/><Relationship Id="rId19" Type="http://schemas.openxmlformats.org/officeDocument/2006/relationships/image" Target="../media/image1.png"/><Relationship Id="rId18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4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/>
          <p:nvPr userDrawn="1"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: 形状 7"/>
          <p:cNvSpPr/>
          <p:nvPr userDrawn="1"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4" name="任意多边形 14"/>
          <p:cNvSpPr/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2"/>
          <p:cNvPicPr/>
          <p:nvPr userDrawn="1"/>
        </p:nvPicPr>
        <p:blipFill>
          <a:blip r:embed="rId19" cstate="print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/>
          <p:nvPr userDrawn="1"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: 形状 7"/>
          <p:cNvSpPr/>
          <p:nvPr userDrawn="1"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4" name="任意多边形 14"/>
          <p:cNvSpPr/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2"/>
          <p:cNvPicPr/>
          <p:nvPr userDrawn="1"/>
        </p:nvPicPr>
        <p:blipFill>
          <a:blip r:embed="rId19" cstate="print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/>
          <p:nvPr userDrawn="1"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: 形状 7"/>
          <p:cNvSpPr/>
          <p:nvPr userDrawn="1"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4" name="任意多边形 14"/>
          <p:cNvSpPr/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2"/>
          <p:cNvPicPr/>
          <p:nvPr userDrawn="1"/>
        </p:nvPicPr>
        <p:blipFill>
          <a:blip r:embed="rId19" cstate="print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/>
          <p:nvPr userDrawn="1"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: 形状 7"/>
          <p:cNvSpPr/>
          <p:nvPr userDrawn="1"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4" name="任意多边形 14"/>
          <p:cNvSpPr/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2"/>
          <p:cNvPicPr/>
          <p:nvPr userDrawn="1"/>
        </p:nvPicPr>
        <p:blipFill>
          <a:blip r:embed="rId19" cstate="print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60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2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362065"/>
          </a:xfrm>
          <a:prstGeom prst="rect">
            <a:avLst/>
          </a:prstGeom>
        </p:spPr>
      </p:pic>
      <p:grpSp>
        <p:nvGrpSpPr>
          <p:cNvPr id="50" name="组合 2"/>
          <p:cNvGrpSpPr/>
          <p:nvPr/>
        </p:nvGrpSpPr>
        <p:grpSpPr>
          <a:xfrm>
            <a:off x="1905" y="2552700"/>
            <a:ext cx="12202795" cy="4305300"/>
            <a:chOff x="0" y="3312958"/>
            <a:chExt cx="12192000" cy="3644278"/>
          </a:xfrm>
        </p:grpSpPr>
        <p:sp>
          <p:nvSpPr>
            <p:cNvPr id="51" name="任意多边形: 形状 22"/>
            <p:cNvSpPr/>
            <p:nvPr/>
          </p:nvSpPr>
          <p:spPr>
            <a:xfrm flipH="1">
              <a:off x="0" y="3312958"/>
              <a:ext cx="12192000" cy="1725442"/>
            </a:xfrm>
            <a:custGeom>
              <a:avLst/>
              <a:gdLst>
                <a:gd name="connsiteX0" fmla="*/ 12192000 w 12192000"/>
                <a:gd name="connsiteY0" fmla="*/ 1085850 h 2432050"/>
                <a:gd name="connsiteX1" fmla="*/ 12192000 w 12192000"/>
                <a:gd name="connsiteY1" fmla="*/ 921385 h 2432050"/>
                <a:gd name="connsiteX2" fmla="*/ 6939915 w 12192000"/>
                <a:gd name="connsiteY2" fmla="*/ 2085975 h 2432050"/>
                <a:gd name="connsiteX3" fmla="*/ 0 w 12192000"/>
                <a:gd name="connsiteY3" fmla="*/ 0 h 2432050"/>
                <a:gd name="connsiteX4" fmla="*/ 0 w 12192000"/>
                <a:gd name="connsiteY4" fmla="*/ 1098550 h 2432050"/>
                <a:gd name="connsiteX5" fmla="*/ 6022975 w 12192000"/>
                <a:gd name="connsiteY5" fmla="*/ 2435860 h 2432050"/>
                <a:gd name="connsiteX6" fmla="*/ 12192000 w 12192000"/>
                <a:gd name="connsiteY6" fmla="*/ 1085850 h 2432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2432050">
                  <a:moveTo>
                    <a:pt x="12192000" y="1085850"/>
                  </a:moveTo>
                  <a:lnTo>
                    <a:pt x="12192000" y="921385"/>
                  </a:lnTo>
                  <a:cubicBezTo>
                    <a:pt x="10547985" y="1675765"/>
                    <a:pt x="8780780" y="2085975"/>
                    <a:pt x="6939915" y="2085975"/>
                  </a:cubicBezTo>
                  <a:cubicBezTo>
                    <a:pt x="4451350" y="2085975"/>
                    <a:pt x="2096135" y="1336040"/>
                    <a:pt x="0" y="0"/>
                  </a:cubicBezTo>
                  <a:lnTo>
                    <a:pt x="0" y="1098550"/>
                  </a:lnTo>
                  <a:cubicBezTo>
                    <a:pt x="1849120" y="1959610"/>
                    <a:pt x="3884930" y="2435860"/>
                    <a:pt x="6022975" y="2435860"/>
                  </a:cubicBezTo>
                  <a:cubicBezTo>
                    <a:pt x="8217535" y="2436495"/>
                    <a:pt x="10935335" y="1819275"/>
                    <a:pt x="12192000" y="108585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kern="0">
                <a:solidFill>
                  <a:prstClr val="white"/>
                </a:solidFill>
                <a:latin typeface="微软雅黑" panose="020B0503020204020204" pitchFamily="34" charset="-122"/>
                <a:ea typeface="黑体" panose="02010609060101010101" pitchFamily="49" charset="-122"/>
              </a:endParaRPr>
            </a:p>
          </p:txBody>
        </p:sp>
        <p:sp>
          <p:nvSpPr>
            <p:cNvPr id="52" name="任意多边形: 形状 19"/>
            <p:cNvSpPr/>
            <p:nvPr/>
          </p:nvSpPr>
          <p:spPr>
            <a:xfrm flipH="1">
              <a:off x="0" y="4054714"/>
              <a:ext cx="12192000" cy="2902522"/>
            </a:xfrm>
            <a:custGeom>
              <a:avLst/>
              <a:gdLst>
                <a:gd name="connsiteX0" fmla="*/ 12191368 w 12192000"/>
                <a:gd name="connsiteY0" fmla="*/ 0 h 3089202"/>
                <a:gd name="connsiteX1" fmla="*/ 12069968 w 12192000"/>
                <a:gd name="connsiteY1" fmla="*/ 48278 h 3089202"/>
                <a:gd name="connsiteX2" fmla="*/ 6022975 w 12192000"/>
                <a:gd name="connsiteY2" fmla="*/ 957527 h 3089202"/>
                <a:gd name="connsiteX3" fmla="*/ 0 w 12192000"/>
                <a:gd name="connsiteY3" fmla="*/ 8759 h 3089202"/>
                <a:gd name="connsiteX4" fmla="*/ 0 w 12192000"/>
                <a:gd name="connsiteY4" fmla="*/ 3089202 h 3089202"/>
                <a:gd name="connsiteX5" fmla="*/ 12192000 w 12192000"/>
                <a:gd name="connsiteY5" fmla="*/ 3089202 h 3089202"/>
                <a:gd name="connsiteX6" fmla="*/ 12191368 w 12192000"/>
                <a:gd name="connsiteY6" fmla="*/ 0 h 3089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089202">
                  <a:moveTo>
                    <a:pt x="12191368" y="0"/>
                  </a:moveTo>
                  <a:lnTo>
                    <a:pt x="12069968" y="48278"/>
                  </a:lnTo>
                  <a:cubicBezTo>
                    <a:pt x="10765984" y="547025"/>
                    <a:pt x="8148955" y="957964"/>
                    <a:pt x="6022975" y="957527"/>
                  </a:cubicBezTo>
                  <a:cubicBezTo>
                    <a:pt x="3884930" y="957527"/>
                    <a:pt x="1849120" y="619647"/>
                    <a:pt x="0" y="8759"/>
                  </a:cubicBezTo>
                  <a:lnTo>
                    <a:pt x="0" y="3089202"/>
                  </a:lnTo>
                  <a:lnTo>
                    <a:pt x="12192000" y="3089202"/>
                  </a:lnTo>
                  <a:lnTo>
                    <a:pt x="12191368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kern="0">
                <a:solidFill>
                  <a:prstClr val="white"/>
                </a:solidFill>
                <a:latin typeface="微软雅黑" panose="020B0503020204020204" pitchFamily="34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3" name="文本框 13"/>
          <p:cNvSpPr txBox="1"/>
          <p:nvPr/>
        </p:nvSpPr>
        <p:spPr>
          <a:xfrm>
            <a:off x="3080169" y="4591113"/>
            <a:ext cx="6157136" cy="156845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>
            <a:no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4800" dirty="0">
                <a:solidFill>
                  <a:schemeClr val="tx1">
                    <a:alpha val="100000"/>
                  </a:schemeClr>
                </a:solidFill>
              </a:rPr>
              <a:t>ALOHA</a:t>
            </a:r>
            <a:r>
              <a:rPr lang="zh-CN" altLang="en-US" sz="4800" dirty="0">
                <a:solidFill>
                  <a:schemeClr val="tx1">
                    <a:alpha val="100000"/>
                  </a:schemeClr>
                </a:solidFill>
              </a:rPr>
              <a:t>和</a:t>
            </a:r>
            <a:r>
              <a:rPr lang="en-US" altLang="zh-CN" sz="4800" dirty="0">
                <a:solidFill>
                  <a:schemeClr val="tx1">
                    <a:alpha val="100000"/>
                  </a:schemeClr>
                </a:solidFill>
              </a:rPr>
              <a:t>CSMA</a:t>
            </a:r>
            <a:r>
              <a:rPr lang="zh-CN" altLang="en-US" sz="4800" dirty="0">
                <a:solidFill>
                  <a:schemeClr val="tx1">
                    <a:alpha val="100000"/>
                  </a:schemeClr>
                </a:solidFill>
              </a:rPr>
              <a:t>有限状态机的设计</a:t>
            </a:r>
            <a:endParaRPr lang="zh-CN" altLang="en-US" sz="4800" dirty="0">
              <a:solidFill>
                <a:schemeClr val="tx1">
                  <a:alpha val="100000"/>
                </a:schemeClr>
              </a:solidFill>
            </a:endParaRPr>
          </a:p>
        </p:txBody>
      </p:sp>
      <p:pic>
        <p:nvPicPr>
          <p:cNvPr id="54" name="图片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5645" y="4542155"/>
            <a:ext cx="1524000" cy="1524000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2452369" y="5991511"/>
            <a:ext cx="7301865" cy="64516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Team2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韩贤煜</a:t>
            </a: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周靖杭</a:t>
            </a: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曾坤</a:t>
            </a:r>
            <a:r>
              <a:rPr lang="en-US" alt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贾杰凡</a:t>
            </a:r>
            <a:endParaRPr lang="zh-CN" altLang="en-US" sz="3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34"/>
          <p:cNvSpPr/>
          <p:nvPr/>
        </p:nvSpPr>
        <p:spPr bwMode="auto">
          <a:xfrm>
            <a:off x="0" y="0"/>
            <a:ext cx="5892801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8" name="矩形 46"/>
          <p:cNvSpPr/>
          <p:nvPr/>
        </p:nvSpPr>
        <p:spPr bwMode="auto">
          <a:xfrm rot="5400000" flipV="1">
            <a:off x="1870073" y="-1870071"/>
            <a:ext cx="1238251" cy="497839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9" name="矩形 37"/>
          <p:cNvSpPr/>
          <p:nvPr/>
        </p:nvSpPr>
        <p:spPr bwMode="auto">
          <a:xfrm rot="5400000">
            <a:off x="1879593" y="3759200"/>
            <a:ext cx="1219201" cy="49783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60" name="组合 52"/>
          <p:cNvGrpSpPr/>
          <p:nvPr/>
        </p:nvGrpSpPr>
        <p:grpSpPr>
          <a:xfrm>
            <a:off x="1524000" y="1070224"/>
            <a:ext cx="2754050" cy="4646991"/>
            <a:chOff x="0" y="1111187"/>
            <a:chExt cx="2754050" cy="4646991"/>
          </a:xfrm>
        </p:grpSpPr>
        <p:sp>
          <p:nvSpPr>
            <p:cNvPr id="61" name="椭圆 47"/>
            <p:cNvSpPr/>
            <p:nvPr/>
          </p:nvSpPr>
          <p:spPr>
            <a:xfrm>
              <a:off x="2450246" y="4863799"/>
              <a:ext cx="200570" cy="200570"/>
            </a:xfrm>
            <a:prstGeom prst="ellipse">
              <a:avLst/>
            </a:pr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椭圆 48"/>
            <p:cNvSpPr/>
            <p:nvPr/>
          </p:nvSpPr>
          <p:spPr>
            <a:xfrm>
              <a:off x="0" y="1111187"/>
              <a:ext cx="312134" cy="312134"/>
            </a:xfrm>
            <a:prstGeom prst="ellipse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椭圆 49"/>
            <p:cNvSpPr/>
            <p:nvPr/>
          </p:nvSpPr>
          <p:spPr>
            <a:xfrm>
              <a:off x="1114320" y="1611397"/>
              <a:ext cx="904679" cy="90467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椭圆 50"/>
            <p:cNvSpPr/>
            <p:nvPr/>
          </p:nvSpPr>
          <p:spPr>
            <a:xfrm>
              <a:off x="854236" y="5460064"/>
              <a:ext cx="298114" cy="298114"/>
            </a:xfrm>
            <a:prstGeom prst="ellipse">
              <a:avLst/>
            </a:prstGeom>
            <a:solidFill>
              <a:schemeClr val="bg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椭圆 51"/>
            <p:cNvSpPr/>
            <p:nvPr/>
          </p:nvSpPr>
          <p:spPr>
            <a:xfrm>
              <a:off x="2313236" y="1194804"/>
              <a:ext cx="440814" cy="44081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6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476018"/>
            <a:ext cx="6648450" cy="3905964"/>
          </a:xfrm>
          <a:prstGeom prst="rect">
            <a:avLst/>
          </a:prstGeom>
        </p:spPr>
      </p:pic>
      <p:sp>
        <p:nvSpPr>
          <p:cNvPr id="67" name="任意多边形 38"/>
          <p:cNvSpPr/>
          <p:nvPr/>
        </p:nvSpPr>
        <p:spPr>
          <a:xfrm rot="16200000">
            <a:off x="1629971" y="1470438"/>
            <a:ext cx="6858003" cy="391712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9157486" h="2127943">
                <a:moveTo>
                  <a:pt x="9138134" y="0"/>
                </a:moveTo>
                <a:lnTo>
                  <a:pt x="9157486" y="2127943"/>
                </a:lnTo>
                <a:lnTo>
                  <a:pt x="13487" y="2127943"/>
                </a:lnTo>
                <a:lnTo>
                  <a:pt x="13487" y="1280202"/>
                </a:lnTo>
                <a:cubicBezTo>
                  <a:pt x="15496" y="857184"/>
                  <a:pt x="-1846" y="564666"/>
                  <a:pt x="163" y="141648"/>
                </a:cubicBezTo>
                <a:cubicBezTo>
                  <a:pt x="3568670" y="1577063"/>
                  <a:pt x="7137176" y="1131097"/>
                  <a:pt x="9138134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8" name="任意多边形 43"/>
          <p:cNvSpPr/>
          <p:nvPr/>
        </p:nvSpPr>
        <p:spPr>
          <a:xfrm rot="16200000">
            <a:off x="4283189" y="-16039"/>
            <a:ext cx="6868899" cy="6879174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68891" h="6879174">
                <a:moveTo>
                  <a:pt x="6868891" y="197279"/>
                </a:moveTo>
                <a:cubicBezTo>
                  <a:pt x="6865263" y="1808265"/>
                  <a:pt x="6858000" y="6879174"/>
                  <a:pt x="6858000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6" y="1257529"/>
                  <a:pt x="4524837" y="1741029"/>
                  <a:pt x="6868891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9" name="矩形 76"/>
          <p:cNvSpPr/>
          <p:nvPr/>
        </p:nvSpPr>
        <p:spPr>
          <a:xfrm>
            <a:off x="6121400" y="4369278"/>
            <a:ext cx="5563425" cy="1198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二、</a:t>
            </a:r>
            <a:r>
              <a:rPr lang="en-US" alt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CSMA</a:t>
            </a:r>
            <a:r>
              <a:rPr lang="zh-CN" altLang="en-US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有限状态机</a:t>
            </a:r>
            <a:endParaRPr lang="en-US" altLang="zh-CN" sz="3600" b="1" dirty="0">
              <a:solidFill>
                <a:schemeClr val="tx1">
                  <a:lumMod val="50000"/>
                  <a:lumOff val="50000"/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r>
              <a:rPr lang="zh-CN" altLang="en-US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的设计</a:t>
            </a:r>
            <a:endParaRPr lang="zh-CN" altLang="en-US" sz="3600" b="1" dirty="0">
              <a:solidFill>
                <a:schemeClr val="tx1">
                  <a:lumMod val="50000"/>
                  <a:lumOff val="50000"/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71" name="文本框 23"/>
          <p:cNvSpPr txBox="1"/>
          <p:nvPr/>
        </p:nvSpPr>
        <p:spPr>
          <a:xfrm>
            <a:off x="6085204" y="1153841"/>
            <a:ext cx="2194896" cy="144655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6000" dirty="0">
                <a:sym typeface="微软雅黑" panose="020B0503020204020204" pitchFamily="34" charset="-122"/>
              </a:rPr>
              <a:t>目 录</a:t>
            </a:r>
            <a:endParaRPr lang="en-US" altLang="zh-CN" sz="6000" dirty="0">
              <a:sym typeface="微软雅黑" panose="020B0503020204020204" pitchFamily="34" charset="-122"/>
            </a:endParaRPr>
          </a:p>
          <a:p>
            <a:r>
              <a:rPr lang="en-US" altLang="zh-CN" dirty="0">
                <a:sym typeface="微软雅黑" panose="020B0503020204020204" pitchFamily="34" charset="-122"/>
              </a:rPr>
              <a:t>CONTENTS</a:t>
            </a:r>
            <a:endParaRPr lang="en-US" altLang="zh-CN" dirty="0">
              <a:sym typeface="微软雅黑" panose="020B0503020204020204" pitchFamily="34" charset="-122"/>
            </a:endParaRPr>
          </a:p>
        </p:txBody>
      </p:sp>
      <p:pic>
        <p:nvPicPr>
          <p:cNvPr id="72" name="图片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825500"/>
            <a:ext cx="1397000" cy="1397000"/>
          </a:xfrm>
          <a:prstGeom prst="rect">
            <a:avLst/>
          </a:prstGeom>
        </p:spPr>
      </p:pic>
      <p:sp>
        <p:nvSpPr>
          <p:cNvPr id="73" name="文本框 1"/>
          <p:cNvSpPr txBox="1"/>
          <p:nvPr/>
        </p:nvSpPr>
        <p:spPr>
          <a:xfrm>
            <a:off x="6121400" y="2842895"/>
            <a:ext cx="5181600" cy="1198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一、</a:t>
            </a:r>
            <a:r>
              <a:rPr lang="en-US" alt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ALOHA</a:t>
            </a:r>
            <a:r>
              <a:rPr lang="zh-CN" altLang="en-US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有限状态机的设计</a:t>
            </a:r>
            <a:endParaRPr lang="zh-CN" altLang="en-US" sz="3600" b="1" dirty="0">
              <a:solidFill>
                <a:schemeClr val="tx1">
                  <a:lumMod val="50000"/>
                  <a:lumOff val="50000"/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图片 1" descr="温大图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</p:pic>
      <p:sp>
        <p:nvSpPr>
          <p:cNvPr id="76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78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0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82" name="文本框 48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en-US" sz="4000" b="0" dirty="0">
                <a:solidFill>
                  <a:srgbClr val="2172B8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+mn-cs"/>
              </a:rPr>
              <a:t>Part.1</a:t>
            </a:r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244827" y="3193014"/>
            <a:ext cx="5706479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en-US" altLang="zh-CN" sz="4800" b="1" i="0" u="none" strike="noStrike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ALOHA</a:t>
            </a:r>
            <a:r>
              <a:rPr lang="zh-CN" altLang="en-US" sz="4800" b="1" i="0" u="none" strike="noStrike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有限状态机的设计</a:t>
            </a:r>
            <a:endParaRPr lang="zh-CN" altLang="en-US" sz="4800" b="1" i="0" u="none" strike="noStrike" dirty="0">
              <a:ln>
                <a:noFill/>
              </a:ln>
              <a:solidFill>
                <a:srgbClr val="044B89">
                  <a:alpha val="10000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ALOHA</a:t>
            </a:r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有限状态机的设计</a:t>
            </a:r>
            <a:endParaRPr lang="zh-CN" altLang="en-US" sz="36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4200" y="1424940"/>
            <a:ext cx="26276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ALOHA</a:t>
            </a:r>
            <a:r>
              <a:rPr lang="zh-CN" altLang="en-US" sz="28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协议</a:t>
            </a:r>
            <a:endParaRPr lang="zh-CN" altLang="en-US" sz="28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4200" y="2033270"/>
            <a:ext cx="2190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(1) </a:t>
            </a:r>
            <a:r>
              <a:rPr lang="zh-CN" altLang="en-US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纯</a:t>
            </a:r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ALOHA</a:t>
            </a:r>
            <a:endParaRPr lang="en-US" altLang="zh-CN" sz="24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 descr="纯ALOHA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00" y="2580005"/>
            <a:ext cx="3519805" cy="37706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200140" y="197993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(2) </a:t>
            </a:r>
            <a:r>
              <a:rPr lang="zh-CN" altLang="en-US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时隙</a:t>
            </a:r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ALOHA</a:t>
            </a:r>
            <a:endParaRPr lang="en-US" altLang="zh-CN" sz="24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时隙ALOHA.draw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140" y="2440305"/>
            <a:ext cx="3081020" cy="395859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ALOHA</a:t>
            </a:r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有限状态机的设计</a:t>
            </a:r>
            <a:endParaRPr lang="zh-CN" altLang="en-US" sz="36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4200" y="1424940"/>
            <a:ext cx="34658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有限状态机</a:t>
            </a:r>
            <a:r>
              <a:rPr lang="zh-CN" altLang="en-US" sz="28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</a:t>
            </a:r>
            <a:endParaRPr lang="zh-CN" altLang="en-US" sz="28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4200" y="2033270"/>
            <a:ext cx="2190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(1) </a:t>
            </a:r>
            <a:r>
              <a:rPr lang="zh-CN" altLang="en-US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纯</a:t>
            </a:r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ALOHA</a:t>
            </a:r>
            <a:endParaRPr lang="en-US" altLang="zh-CN" sz="24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00140" y="197993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(2) </a:t>
            </a:r>
            <a:r>
              <a:rPr lang="zh-CN" altLang="en-US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时隙</a:t>
            </a:r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ALOHA</a:t>
            </a:r>
            <a:endParaRPr lang="en-US" altLang="zh-CN" sz="24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6" descr="状态机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00" y="2794000"/>
            <a:ext cx="5322570" cy="2596515"/>
          </a:xfrm>
          <a:prstGeom prst="rect">
            <a:avLst/>
          </a:prstGeom>
        </p:spPr>
      </p:pic>
      <p:pic>
        <p:nvPicPr>
          <p:cNvPr id="9" name="图片 8" descr="6666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140" y="2794000"/>
            <a:ext cx="5481320" cy="25495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1" descr="温大图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</p:pic>
      <p:sp>
        <p:nvSpPr>
          <p:cNvPr id="7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44B8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/>
            </a:endParaRPr>
          </a:p>
        </p:txBody>
      </p:sp>
      <p:sp>
        <p:nvSpPr>
          <p:cNvPr id="8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9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0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1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13" name="文本框 63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Part.2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文本框 1"/>
          <p:cNvSpPr txBox="1"/>
          <p:nvPr/>
        </p:nvSpPr>
        <p:spPr>
          <a:xfrm>
            <a:off x="1244828" y="3193014"/>
            <a:ext cx="5764789" cy="1568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en-US" altLang="zh-CN" sz="4800" b="1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CSMA</a:t>
            </a:r>
            <a:r>
              <a:rPr lang="zh-CN" altLang="en-US" sz="4800" b="1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有限状态机</a:t>
            </a:r>
            <a:endParaRPr lang="en-US" altLang="zh-CN" sz="4800" b="1" dirty="0">
              <a:ln>
                <a:noFill/>
              </a:ln>
              <a:solidFill>
                <a:srgbClr val="044B89">
                  <a:alpha val="10000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的设计</a:t>
            </a:r>
            <a:endParaRPr lang="zh-CN" altLang="en-US" sz="4800" b="1" dirty="0">
              <a:ln>
                <a:noFill/>
              </a:ln>
              <a:solidFill>
                <a:srgbClr val="044B89">
                  <a:alpha val="10000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en-US" alt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CSMA</a:t>
            </a:r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有限状态机的设计</a:t>
            </a:r>
            <a:endParaRPr lang="zh-CN" altLang="en-US" sz="36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4507" y="1457960"/>
            <a:ext cx="41154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CSMA/CD</a:t>
            </a:r>
            <a:r>
              <a:rPr lang="zh-CN" altLang="en-US" sz="28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协议</a:t>
            </a:r>
            <a:endParaRPr lang="zh-CN" altLang="en-US" sz="28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4507" y="1979930"/>
            <a:ext cx="10709910" cy="59124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(1) </a:t>
            </a:r>
            <a:r>
              <a:rPr lang="zh-CN" altLang="en-US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载波监听</a:t>
            </a:r>
            <a:endParaRPr lang="zh-CN" altLang="en-US" sz="24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507365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在发送数据之前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每个设备首先监听信道。如果信道空闲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设备会开始发送数据。如果信道正在使用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设备将等待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直到信道变为空闲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(2) </a:t>
            </a:r>
            <a:r>
              <a:rPr lang="zh-CN" altLang="en-US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发送数据</a:t>
            </a:r>
            <a:endParaRPr lang="zh-CN" altLang="en-US" sz="24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507365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当设备确定信道空闲时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它就开始发送数据。设备在发送数据的过程中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会继续监听信道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以便实时检测是否有冲突发生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(3) </a:t>
            </a:r>
            <a:r>
              <a:rPr lang="zh-CN" altLang="en-US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冲突检测</a:t>
            </a:r>
            <a:endParaRPr lang="zh-CN" altLang="en-US" sz="24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507365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CSMA/CD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设备在发送数据的同时监听信道。若检测到信道中出现冲突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设备会立即停止发送数据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并发送冲突信号来通知其他设备发生了冲突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(4)</a:t>
            </a:r>
            <a:r>
              <a:rPr lang="zh-CN" altLang="en-US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冲突回退与重试</a:t>
            </a:r>
            <a:endParaRPr lang="zh-CN" altLang="en-US" sz="24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507365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一旦冲突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设备随机等待一段时间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指数回退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然后重新尝试发送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回到载波监听状态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en-US" alt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CSMA</a:t>
            </a:r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有限状态机的设计</a:t>
            </a:r>
            <a:endParaRPr lang="zh-CN" altLang="en-US" sz="36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4507" y="1457960"/>
            <a:ext cx="41154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800" b="1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有限状态机的设计</a:t>
            </a:r>
            <a:endParaRPr lang="zh-CN" altLang="en-US" sz="2800" b="1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 descr="555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010" y="1979930"/>
            <a:ext cx="8475345" cy="45339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WPS 演示</Application>
  <PresentationFormat>宽屏</PresentationFormat>
  <Paragraphs>55</Paragraphs>
  <Slides>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8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黑体</vt:lpstr>
      <vt:lpstr>思源黑体 CN Normal</vt:lpstr>
      <vt:lpstr>Times New Roman</vt:lpstr>
      <vt:lpstr>Calibri</vt:lpstr>
      <vt:lpstr>等线</vt:lpstr>
      <vt:lpstr>OPPOSans H</vt:lpstr>
      <vt:lpstr>Arial Unicode MS</vt:lpstr>
      <vt:lpstr>等线 Light</vt:lpstr>
      <vt:lpstr>Calibri Light</vt:lpstr>
      <vt:lpstr>Segoe Print</vt:lpstr>
      <vt:lpstr>Office Theme</vt:lpstr>
      <vt:lpstr>2_Office Theme</vt:lpstr>
      <vt:lpstr>3_Office Theme</vt:lpstr>
      <vt:lpstr>4_Office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ZJH</cp:lastModifiedBy>
  <cp:revision>6</cp:revision>
  <dcterms:created xsi:type="dcterms:W3CDTF">2026-04-03T01:30:00Z</dcterms:created>
  <dcterms:modified xsi:type="dcterms:W3CDTF">2026-04-03T08:05:29Z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15B881F6D31446C4BB5E1680D16CC8C7_13</vt:lpwstr>
  </property>
  <property fmtid="{D5CDD505-2E9C-101B-9397-08002B2CF9AE}" pid="3" name="KSOProductBuildVer">
    <vt:lpwstr>2052-12.1.0.25225</vt:lpwstr>
  </property>
</Properties>
</file>